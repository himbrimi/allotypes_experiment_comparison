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3" r:id="rId2"/>
  </p:sldMasterIdLst>
  <p:notesMasterIdLst>
    <p:notesMasterId r:id="rId20"/>
  </p:notesMasterIdLst>
  <p:handoutMasterIdLst>
    <p:handoutMasterId r:id="rId21"/>
  </p:handoutMasterIdLst>
  <p:sldIdLst>
    <p:sldId id="290" r:id="rId3"/>
    <p:sldId id="484" r:id="rId4"/>
    <p:sldId id="486" r:id="rId5"/>
    <p:sldId id="478" r:id="rId6"/>
    <p:sldId id="485" r:id="rId7"/>
    <p:sldId id="257" r:id="rId8"/>
    <p:sldId id="258" r:id="rId9"/>
    <p:sldId id="481" r:id="rId10"/>
    <p:sldId id="488" r:id="rId11"/>
    <p:sldId id="502" r:id="rId12"/>
    <p:sldId id="503" r:id="rId13"/>
    <p:sldId id="504" r:id="rId14"/>
    <p:sldId id="505" r:id="rId15"/>
    <p:sldId id="499" r:id="rId16"/>
    <p:sldId id="506" r:id="rId17"/>
    <p:sldId id="492" r:id="rId18"/>
    <p:sldId id="497" r:id="rId19"/>
  </p:sldIdLst>
  <p:sldSz cx="9144000" cy="5143500" type="screen16x9"/>
  <p:notesSz cx="6797675" cy="987425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B517"/>
    <a:srgbClr val="FCFBA5"/>
    <a:srgbClr val="668A36"/>
    <a:srgbClr val="CBD213"/>
    <a:srgbClr val="22708F"/>
    <a:srgbClr val="7EC4BC"/>
    <a:srgbClr val="EA6B27"/>
    <a:srgbClr val="AB8A11"/>
    <a:srgbClr val="4CA6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4660"/>
  </p:normalViewPr>
  <p:slideViewPr>
    <p:cSldViewPr snapToGrid="0">
      <p:cViewPr>
        <p:scale>
          <a:sx n="78" d="100"/>
          <a:sy n="78" d="100"/>
        </p:scale>
        <p:origin x="24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-43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02297-0F83-47B6-9DBD-BAA2097C39B5}" type="datetimeFigureOut">
              <a:rPr lang="hr-HR" smtClean="0"/>
              <a:t>11.6.2026.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AB4041-48CE-4EFE-A2E0-33A77B7614D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76877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BE37C-EAFD-4913-98FC-EF21B72C2DE9}" type="datetimeFigureOut">
              <a:rPr lang="hr-HR" smtClean="0"/>
              <a:t>11.6.2026.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496BA1-F9FC-4E03-A392-FA642C74EC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44539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11.6.2026.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3781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11.6.2026.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4158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11.6.2026.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4837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11.6.2026.</a:t>
            </a:fld>
            <a:endParaRPr lang="hr-H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29288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11.6.2026.</a:t>
            </a:fld>
            <a:endParaRPr lang="hr-H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0716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11.6.2026.</a:t>
            </a:fld>
            <a:endParaRPr lang="hr-H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7414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30EA24-10E7-714B-B591-C3C7F94F20F2}" type="datetimeFigureOut">
              <a:rPr lang="en-US" smtClean="0"/>
              <a:pPr>
                <a:defRPr/>
              </a:pPr>
              <a:t>6/11/2026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821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11.6.2026.</a:t>
            </a:fld>
            <a:endParaRPr lang="hr-H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829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11.6.2026.</a:t>
            </a:fld>
            <a:endParaRPr lang="hr-H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1701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11.6.2026.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2740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11.6.2026.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24930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23812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050"/>
            </a:lvl1pPr>
            <a:lvl2pPr marL="685800" lvl="1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900"/>
            </a:lvl2pPr>
            <a:lvl3pPr marL="1028700" lvl="2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900"/>
            </a:lvl3pPr>
            <a:lvl4pPr marL="1371600" lvl="3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900"/>
            </a:lvl4pPr>
            <a:lvl5pPr marL="1714500" lvl="4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900"/>
            </a:lvl5pPr>
            <a:lvl6pPr marL="2057400" lvl="5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900"/>
            </a:lvl6pPr>
            <a:lvl7pPr marL="2400300" lvl="6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900"/>
            </a:lvl7pPr>
            <a:lvl8pPr marL="2743200" lvl="7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900"/>
            </a:lvl8pPr>
            <a:lvl9pPr marL="3086100" lvl="8" indent="-2286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Char char="■"/>
              <a:defRPr sz="900"/>
            </a:lvl9pPr>
          </a:lstStyle>
          <a:p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23812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050"/>
            </a:lvl1pPr>
            <a:lvl2pPr marL="685800" lvl="1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900"/>
            </a:lvl2pPr>
            <a:lvl3pPr marL="1028700" lvl="2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900"/>
            </a:lvl3pPr>
            <a:lvl4pPr marL="1371600" lvl="3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900"/>
            </a:lvl4pPr>
            <a:lvl5pPr marL="1714500" lvl="4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900"/>
            </a:lvl5pPr>
            <a:lvl6pPr marL="2057400" lvl="5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900"/>
            </a:lvl6pPr>
            <a:lvl7pPr marL="2400300" lvl="6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900"/>
            </a:lvl7pPr>
            <a:lvl8pPr marL="2743200" lvl="7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900"/>
            </a:lvl8pPr>
            <a:lvl9pPr marL="3086100" lvl="8" indent="-2286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Char char="■"/>
              <a:defRPr sz="900"/>
            </a:lvl9pPr>
          </a:lstStyle>
          <a:p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22001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3974C-935D-451D-80A9-CE6F8F8638F6}" type="datetimeFigureOut">
              <a:rPr lang="hr-HR" smtClean="0"/>
              <a:t>11.6.2026.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27980131"/>
      </p:ext>
    </p:extLst>
  </p:cSld>
  <p:clrMap bg1="lt1" tx1="dk1" bg2="lt2" tx2="dk2" accent1="accent1" accent2="accent2" accent3="accent3" accent4="accent4" accent5="accent5" accent6="accent6" hlink="hlink" folHlink="folHlink"/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E573974C-935D-451D-80A9-CE6F8F8638F6}" type="datetimeFigureOut">
              <a:rPr lang="hr-HR" smtClean="0"/>
              <a:t>11.6.2026.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hr-HR"/>
          </a:p>
        </p:txBody>
      </p:sp>
      <p:grpSp>
        <p:nvGrpSpPr>
          <p:cNvPr id="1031" name="Group 10"/>
          <p:cNvGrpSpPr>
            <a:grpSpLocks/>
          </p:cNvGrpSpPr>
          <p:nvPr/>
        </p:nvGrpSpPr>
        <p:grpSpPr bwMode="auto">
          <a:xfrm>
            <a:off x="-15875" y="-23812"/>
            <a:ext cx="9185275" cy="5247145"/>
            <a:chOff x="26373" y="-19918"/>
            <a:chExt cx="9188781" cy="6996325"/>
          </a:xfrm>
        </p:grpSpPr>
        <p:pic>
          <p:nvPicPr>
            <p:cNvPr id="1034" name="Picture 8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7202" r="68968"/>
            <a:stretch>
              <a:fillRect/>
            </a:stretch>
          </p:blipFill>
          <p:spPr bwMode="auto">
            <a:xfrm>
              <a:off x="26373" y="6395201"/>
              <a:ext cx="9184544" cy="504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Round Same Side Corner Rectangle 12"/>
            <p:cNvSpPr/>
            <p:nvPr/>
          </p:nvSpPr>
          <p:spPr>
            <a:xfrm>
              <a:off x="3536087" y="6538169"/>
              <a:ext cx="2174118" cy="331793"/>
            </a:xfrm>
            <a:prstGeom prst="round2SameRect">
              <a:avLst>
                <a:gd name="adj1" fmla="val 41206"/>
                <a:gd name="adj2" fmla="val 0"/>
              </a:avLst>
            </a:prstGeom>
            <a:solidFill>
              <a:srgbClr val="EC02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ta-IN" sz="1400" dirty="0">
                  <a:latin typeface="+mj-lt"/>
                  <a:cs typeface="Arial"/>
                </a:rPr>
                <a:t>www.genos-glyco.com</a:t>
              </a:r>
            </a:p>
          </p:txBody>
        </p:sp>
        <p:pic>
          <p:nvPicPr>
            <p:cNvPr id="1036" name="Picture 1"/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9333"/>
            <a:stretch>
              <a:fillRect/>
            </a:stretch>
          </p:blipFill>
          <p:spPr bwMode="auto">
            <a:xfrm>
              <a:off x="30610" y="-19918"/>
              <a:ext cx="9184544" cy="108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37" name="Group 14"/>
            <p:cNvGrpSpPr>
              <a:grpSpLocks/>
            </p:cNvGrpSpPr>
            <p:nvPr/>
          </p:nvGrpSpPr>
          <p:grpSpPr bwMode="auto">
            <a:xfrm>
              <a:off x="107790" y="6432558"/>
              <a:ext cx="1295321" cy="543849"/>
              <a:chOff x="107790" y="6432558"/>
              <a:chExt cx="1295321" cy="543849"/>
            </a:xfrm>
          </p:grpSpPr>
          <p:pic>
            <p:nvPicPr>
              <p:cNvPr id="1038" name="Picture 15" descr="Genos-19.png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790" y="6432558"/>
                <a:ext cx="422355" cy="429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" name="TextBox 16"/>
              <p:cNvSpPr txBox="1">
                <a:spLocks noChangeArrowheads="1"/>
              </p:cNvSpPr>
              <p:nvPr/>
            </p:nvSpPr>
            <p:spPr bwMode="auto">
              <a:xfrm>
                <a:off x="466279" y="6442917"/>
                <a:ext cx="936832" cy="5334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9pPr>
              </a:lstStyle>
              <a:p>
                <a:pPr>
                  <a:defRPr/>
                </a:pPr>
                <a:r>
                  <a:rPr lang="ta-IN" sz="2000" b="1" dirty="0">
                    <a:solidFill>
                      <a:schemeClr val="bg1"/>
                    </a:solidFill>
                    <a:latin typeface="Gotham Medium" charset="0"/>
                    <a:cs typeface="Gotham Medium" charset="0"/>
                  </a:rPr>
                  <a:t>GENOS</a:t>
                </a:r>
                <a:endParaRPr lang="en-US" sz="2000" b="1" dirty="0">
                  <a:solidFill>
                    <a:schemeClr val="bg1"/>
                  </a:solidFill>
                  <a:latin typeface="Gotham Medium" charset="0"/>
                  <a:cs typeface="Gotham Medium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9014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6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457189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ctr" defTabSz="457189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2pPr>
      <a:lvl3pPr algn="ctr" defTabSz="457189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3pPr>
      <a:lvl4pPr algn="ctr" defTabSz="457189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4pPr>
      <a:lvl5pPr algn="ctr" defTabSz="457189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5pPr>
      <a:lvl6pPr marL="457189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377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566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754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891" indent="-342891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b="1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1pPr>
      <a:lvl2pPr marL="742932" indent="-285744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b="1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1142971" indent="-228594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b="1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1600160" indent="-228594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b="1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2057349" indent="-228594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b="1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7" Type="http://schemas.openxmlformats.org/officeDocument/2006/relationships/image" Target="../media/image25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tiff"/><Relationship Id="rId5" Type="http://schemas.openxmlformats.org/officeDocument/2006/relationships/image" Target="../media/image23.tiff"/><Relationship Id="rId4" Type="http://schemas.openxmlformats.org/officeDocument/2006/relationships/image" Target="../media/image22.tif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B5FE536-BE33-5C82-4261-5FF44517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6331"/>
            <a:ext cx="7772400" cy="1102519"/>
          </a:xfrm>
        </p:spPr>
        <p:txBody>
          <a:bodyPr>
            <a:normAutofit fontScale="90000"/>
          </a:bodyPr>
          <a:lstStyle/>
          <a:p>
            <a:r>
              <a:rPr lang="en-GB" dirty="0"/>
              <a:t>Influence of IgG amino acid sequence on attached N-glycans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3CB50717-9DD4-D51A-A9FB-B3C1B9F2F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1060" y="2257426"/>
            <a:ext cx="6400800" cy="1314450"/>
          </a:xfrm>
        </p:spPr>
        <p:txBody>
          <a:bodyPr/>
          <a:lstStyle/>
          <a:p>
            <a:r>
              <a:rPr lang="en-US" dirty="0"/>
              <a:t>Olga Zaitseva, Anika </a:t>
            </a:r>
            <a:r>
              <a:rPr lang="en-US" dirty="0" err="1"/>
              <a:t>Mijakovac</a:t>
            </a:r>
            <a:endParaRPr lang="ru-RU" dirty="0"/>
          </a:p>
          <a:p>
            <a:r>
              <a:rPr lang="en-US" sz="1600" dirty="0"/>
              <a:t>Genos </a:t>
            </a:r>
            <a:r>
              <a:rPr lang="en-US" sz="1600" dirty="0" err="1"/>
              <a:t>Glycoscience</a:t>
            </a:r>
            <a:r>
              <a:rPr lang="en-US" sz="1600" dirty="0"/>
              <a:t> Research Laboratory, Zagreb</a:t>
            </a:r>
          </a:p>
          <a:p>
            <a:r>
              <a:rPr lang="en-US" sz="1600" dirty="0"/>
              <a:t>Faculty of Science, University of Zagreb</a:t>
            </a: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08546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9622">
        <p:fade/>
      </p:transition>
    </mc:Choice>
    <mc:Fallback xmlns="">
      <p:transition spd="med" advTm="19622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niOkvir 6">
            <a:extLst>
              <a:ext uri="{FF2B5EF4-FFF2-40B4-BE49-F238E27FC236}">
                <a16:creationId xmlns:a16="http://schemas.microsoft.com/office/drawing/2014/main" id="{E6536653-5A5C-0FA8-D56F-5381E9C20A4C}"/>
              </a:ext>
            </a:extLst>
          </p:cNvPr>
          <p:cNvSpPr txBox="1"/>
          <p:nvPr/>
        </p:nvSpPr>
        <p:spPr>
          <a:xfrm>
            <a:off x="443686" y="225411"/>
            <a:ext cx="2544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Collaborative Cross Mice</a:t>
            </a: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D21EA390-2C3A-6960-BE03-AD02E87224CD}"/>
              </a:ext>
            </a:extLst>
          </p:cNvPr>
          <p:cNvSpPr txBox="1"/>
          <p:nvPr/>
        </p:nvSpPr>
        <p:spPr>
          <a:xfrm>
            <a:off x="567688" y="514941"/>
            <a:ext cx="29938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Two IgG1 allotypes with</a:t>
            </a:r>
          </a:p>
          <a:p>
            <a:r>
              <a:rPr lang="en-GB" dirty="0"/>
              <a:t>distinct Fc-linked </a:t>
            </a:r>
            <a:r>
              <a:rPr lang="en-GB" dirty="0" err="1"/>
              <a:t>glycoprofiles</a:t>
            </a:r>
            <a:endParaRPr lang="en-GB" dirty="0"/>
          </a:p>
          <a:p>
            <a:endParaRPr lang="en-GB" dirty="0"/>
          </a:p>
        </p:txBody>
      </p:sp>
      <p:grpSp>
        <p:nvGrpSpPr>
          <p:cNvPr id="13" name="Grupa 12">
            <a:extLst>
              <a:ext uri="{FF2B5EF4-FFF2-40B4-BE49-F238E27FC236}">
                <a16:creationId xmlns:a16="http://schemas.microsoft.com/office/drawing/2014/main" id="{9803DD4E-2E10-FED7-E730-2C001A099C87}"/>
              </a:ext>
            </a:extLst>
          </p:cNvPr>
          <p:cNvGrpSpPr/>
          <p:nvPr/>
        </p:nvGrpSpPr>
        <p:grpSpPr>
          <a:xfrm>
            <a:off x="3968405" y="115326"/>
            <a:ext cx="5041387" cy="4609827"/>
            <a:chOff x="5282176" y="1404504"/>
            <a:chExt cx="3363536" cy="2750255"/>
          </a:xfrm>
        </p:grpSpPr>
        <p:pic>
          <p:nvPicPr>
            <p:cNvPr id="4" name="Picture 1657617975">
              <a:extLst>
                <a:ext uri="{FF2B5EF4-FFF2-40B4-BE49-F238E27FC236}">
                  <a16:creationId xmlns:a16="http://schemas.microsoft.com/office/drawing/2014/main" id="{45E236D6-899F-280B-68C3-7F8BBEB6B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4054"/>
            <a:stretch/>
          </p:blipFill>
          <p:spPr>
            <a:xfrm>
              <a:off x="5282176" y="1404504"/>
              <a:ext cx="3312262" cy="2730391"/>
            </a:xfrm>
            <a:prstGeom prst="rect">
              <a:avLst/>
            </a:prstGeom>
          </p:spPr>
        </p:pic>
        <p:sp>
          <p:nvSpPr>
            <p:cNvPr id="11" name="Pravokutnik 10">
              <a:extLst>
                <a:ext uri="{FF2B5EF4-FFF2-40B4-BE49-F238E27FC236}">
                  <a16:creationId xmlns:a16="http://schemas.microsoft.com/office/drawing/2014/main" id="{C3A86668-91FA-BB4D-3125-BBC230B9D15B}"/>
                </a:ext>
              </a:extLst>
            </p:cNvPr>
            <p:cNvSpPr/>
            <p:nvPr/>
          </p:nvSpPr>
          <p:spPr>
            <a:xfrm>
              <a:off x="7289185" y="2769701"/>
              <a:ext cx="1356527" cy="13850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pic>
        <p:nvPicPr>
          <p:cNvPr id="2" name="Изображение 7" descr="download.jpeg">
            <a:extLst>
              <a:ext uri="{FF2B5EF4-FFF2-40B4-BE49-F238E27FC236}">
                <a16:creationId xmlns:a16="http://schemas.microsoft.com/office/drawing/2014/main" id="{27FA9361-5FB5-C923-0C7D-451D042AA8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232" y="2826834"/>
            <a:ext cx="1683907" cy="1575034"/>
          </a:xfrm>
          <a:prstGeom prst="rect">
            <a:avLst/>
          </a:prstGeom>
        </p:spPr>
      </p:pic>
      <p:grpSp>
        <p:nvGrpSpPr>
          <p:cNvPr id="3" name="Группа 9">
            <a:extLst>
              <a:ext uri="{FF2B5EF4-FFF2-40B4-BE49-F238E27FC236}">
                <a16:creationId xmlns:a16="http://schemas.microsoft.com/office/drawing/2014/main" id="{598F9B12-6A10-9F8D-5649-01EBFFD829CB}"/>
              </a:ext>
            </a:extLst>
          </p:cNvPr>
          <p:cNvGrpSpPr/>
          <p:nvPr/>
        </p:nvGrpSpPr>
        <p:grpSpPr>
          <a:xfrm>
            <a:off x="75048" y="1438271"/>
            <a:ext cx="3816506" cy="2561715"/>
            <a:chOff x="159562" y="1878568"/>
            <a:chExt cx="7416800" cy="4950323"/>
          </a:xfrm>
        </p:grpSpPr>
        <p:pic>
          <p:nvPicPr>
            <p:cNvPr id="5" name="Изображение 3" descr="HAZ_FE.emf">
              <a:extLst>
                <a:ext uri="{FF2B5EF4-FFF2-40B4-BE49-F238E27FC236}">
                  <a16:creationId xmlns:a16="http://schemas.microsoft.com/office/drawing/2014/main" id="{C2B929BC-0440-8421-4C43-4465AAA43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562" y="1878568"/>
              <a:ext cx="7416800" cy="495032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326933-EF48-43A6-C00F-44E98E8BA229}"/>
                </a:ext>
              </a:extLst>
            </p:cNvPr>
            <p:cNvSpPr txBox="1"/>
            <p:nvPr/>
          </p:nvSpPr>
          <p:spPr>
            <a:xfrm>
              <a:off x="5439342" y="2940635"/>
              <a:ext cx="1804918" cy="1070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IgG1F</a:t>
              </a:r>
            </a:p>
            <a:p>
              <a:r>
                <a:rPr lang="en-US" sz="1000" b="1" dirty="0"/>
                <a:t>EEQ</a:t>
              </a:r>
              <a:r>
                <a:rPr lang="en-US" sz="1000" b="1" dirty="0">
                  <a:solidFill>
                    <a:srgbClr val="FF0000"/>
                  </a:solidFill>
                </a:rPr>
                <a:t>F</a:t>
              </a:r>
              <a:r>
                <a:rPr lang="en-US" sz="1000" b="1" dirty="0">
                  <a:solidFill>
                    <a:srgbClr val="000000"/>
                  </a:solidFill>
                </a:rPr>
                <a:t>NSTFR</a:t>
              </a:r>
              <a:endParaRPr lang="ru-RU" sz="1000" dirty="0"/>
            </a:p>
            <a:p>
              <a:endParaRPr lang="ru-RU" sz="10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FA607F0-AFA8-48C1-2719-A70267869298}"/>
                </a:ext>
              </a:extLst>
            </p:cNvPr>
            <p:cNvSpPr txBox="1"/>
            <p:nvPr/>
          </p:nvSpPr>
          <p:spPr>
            <a:xfrm>
              <a:off x="4535675" y="4749116"/>
              <a:ext cx="1502148" cy="1308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IgG1I</a:t>
              </a:r>
            </a:p>
            <a:p>
              <a:r>
                <a:rPr lang="en-US" sz="1000" b="1" dirty="0"/>
                <a:t>EEQ</a:t>
              </a:r>
              <a:r>
                <a:rPr lang="en-US" sz="1000" b="1" dirty="0">
                  <a:solidFill>
                    <a:srgbClr val="0000FF"/>
                  </a:solidFill>
                </a:rPr>
                <a:t>I</a:t>
              </a:r>
              <a:r>
                <a:rPr lang="en-US" sz="1000" b="1" dirty="0">
                  <a:solidFill>
                    <a:srgbClr val="000000"/>
                  </a:solidFill>
                </a:rPr>
                <a:t>NSTFR</a:t>
              </a:r>
              <a:endParaRPr lang="ru-RU" sz="1000" dirty="0"/>
            </a:p>
            <a:p>
              <a:endParaRPr lang="ru-RU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8E9AD1-3A20-94E7-6E25-2CB54CB7BEE3}"/>
                </a:ext>
              </a:extLst>
            </p:cNvPr>
            <p:cNvSpPr txBox="1"/>
            <p:nvPr/>
          </p:nvSpPr>
          <p:spPr>
            <a:xfrm>
              <a:off x="3261705" y="2386002"/>
              <a:ext cx="1528519" cy="4758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000" dirty="0"/>
                <a:t>IgG3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C18DC45-5FBB-3E15-629F-AD147F221D85}"/>
                </a:ext>
              </a:extLst>
            </p:cNvPr>
            <p:cNvSpPr txBox="1"/>
            <p:nvPr/>
          </p:nvSpPr>
          <p:spPr>
            <a:xfrm>
              <a:off x="1667732" y="4353729"/>
              <a:ext cx="3187948" cy="4758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IgG2</a:t>
              </a:r>
              <a:endParaRPr lang="ru-RU" sz="1000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AD43EB3-7550-F4B2-4534-FEE6AF13FF48}"/>
              </a:ext>
            </a:extLst>
          </p:cNvPr>
          <p:cNvSpPr txBox="1"/>
          <p:nvPr/>
        </p:nvSpPr>
        <p:spPr>
          <a:xfrm>
            <a:off x="7151232" y="4467521"/>
            <a:ext cx="19563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Krištić</a:t>
            </a:r>
            <a:r>
              <a:rPr lang="en-US" sz="1000" dirty="0"/>
              <a:t> et al., 2018</a:t>
            </a:r>
          </a:p>
        </p:txBody>
      </p:sp>
    </p:spTree>
    <p:extLst>
      <p:ext uri="{BB962C8B-B14F-4D97-AF65-F5344CB8AC3E}">
        <p14:creationId xmlns:p14="http://schemas.microsoft.com/office/powerpoint/2010/main" val="12533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25163">
        <p:fade/>
      </p:transition>
    </mc:Choice>
    <mc:Fallback xmlns="">
      <p:transition spd="med" advTm="225163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583195-DE44-AD7C-4F09-FC4234BA010D}"/>
              </a:ext>
            </a:extLst>
          </p:cNvPr>
          <p:cNvGrpSpPr/>
          <p:nvPr/>
        </p:nvGrpSpPr>
        <p:grpSpPr>
          <a:xfrm>
            <a:off x="136113" y="188401"/>
            <a:ext cx="3369087" cy="1793844"/>
            <a:chOff x="128492" y="119820"/>
            <a:chExt cx="6272343" cy="3339660"/>
          </a:xfrm>
        </p:grpSpPr>
        <p:pic>
          <p:nvPicPr>
            <p:cNvPr id="4" name="Slika 4">
              <a:extLst>
                <a:ext uri="{FF2B5EF4-FFF2-40B4-BE49-F238E27FC236}">
                  <a16:creationId xmlns:a16="http://schemas.microsoft.com/office/drawing/2014/main" id="{9A7860E2-BF82-2EC8-44B6-5377D6318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45372"/>
            <a:stretch>
              <a:fillRect/>
            </a:stretch>
          </p:blipFill>
          <p:spPr>
            <a:xfrm>
              <a:off x="128492" y="119820"/>
              <a:ext cx="6272343" cy="333966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94FD411-BF4D-BC4F-9B83-E436D8373D25}"/>
                </a:ext>
              </a:extLst>
            </p:cNvPr>
            <p:cNvSpPr/>
            <p:nvPr/>
          </p:nvSpPr>
          <p:spPr>
            <a:xfrm>
              <a:off x="4274820" y="1333500"/>
              <a:ext cx="396240" cy="1905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035944-927A-9E0A-9EDE-CB3EDEFB1F0C}"/>
                </a:ext>
              </a:extLst>
            </p:cNvPr>
            <p:cNvSpPr/>
            <p:nvPr/>
          </p:nvSpPr>
          <p:spPr>
            <a:xfrm>
              <a:off x="3878580" y="2971800"/>
              <a:ext cx="693420" cy="1905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close-up of a text&#10;&#10;AI-generated content may be incorrect.">
            <a:extLst>
              <a:ext uri="{FF2B5EF4-FFF2-40B4-BE49-F238E27FC236}">
                <a16:creationId xmlns:a16="http://schemas.microsoft.com/office/drawing/2014/main" id="{21A6F47D-A9DA-2AE0-6089-4521808E78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13" y="2816836"/>
            <a:ext cx="8450943" cy="1602764"/>
          </a:xfrm>
          <a:prstGeom prst="rect">
            <a:avLst/>
          </a:prstGeom>
        </p:spPr>
      </p:pic>
      <p:pic>
        <p:nvPicPr>
          <p:cNvPr id="12" name="Изображение 2">
            <a:extLst>
              <a:ext uri="{FF2B5EF4-FFF2-40B4-BE49-F238E27FC236}">
                <a16:creationId xmlns:a16="http://schemas.microsoft.com/office/drawing/2014/main" id="{749E6F39-AF3A-1159-FC98-70279E3E4A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528" y="140518"/>
            <a:ext cx="4587900" cy="26763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AC3FF6D-57C9-8CA6-F3E2-EE3A67A26B6C}"/>
              </a:ext>
            </a:extLst>
          </p:cNvPr>
          <p:cNvSpPr txBox="1"/>
          <p:nvPr/>
        </p:nvSpPr>
        <p:spPr>
          <a:xfrm>
            <a:off x="2405224" y="1982245"/>
            <a:ext cx="19563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Krištić</a:t>
            </a:r>
            <a:r>
              <a:rPr lang="en-US" sz="1000" dirty="0"/>
              <a:t> et al., 2018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8605B7-8CD3-2A77-8692-20D33939E659}"/>
              </a:ext>
            </a:extLst>
          </p:cNvPr>
          <p:cNvSpPr txBox="1"/>
          <p:nvPr/>
        </p:nvSpPr>
        <p:spPr>
          <a:xfrm>
            <a:off x="7486310" y="2693724"/>
            <a:ext cx="12490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Zaytseva et al., 2018</a:t>
            </a:r>
          </a:p>
        </p:txBody>
      </p:sp>
    </p:spTree>
    <p:extLst>
      <p:ext uri="{BB962C8B-B14F-4D97-AF65-F5344CB8AC3E}">
        <p14:creationId xmlns:p14="http://schemas.microsoft.com/office/powerpoint/2010/main" val="4170394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7847">
        <p:fade/>
      </p:transition>
    </mc:Choice>
    <mc:Fallback xmlns="">
      <p:transition spd="med" advTm="87847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ka 2">
            <a:extLst>
              <a:ext uri="{FF2B5EF4-FFF2-40B4-BE49-F238E27FC236}">
                <a16:creationId xmlns:a16="http://schemas.microsoft.com/office/drawing/2014/main" id="{7C274E68-096E-3915-DB30-EB5D723167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648"/>
          <a:stretch>
            <a:fillRect/>
          </a:stretch>
        </p:blipFill>
        <p:spPr>
          <a:xfrm>
            <a:off x="3386212" y="472823"/>
            <a:ext cx="4241408" cy="4132547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DEB8BA52-8F5F-B3BA-47B0-956BB20FB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89" y="1699367"/>
            <a:ext cx="2716211" cy="2767815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97EEC4B8-27F4-47A1-8378-735654BA3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56" y="118168"/>
            <a:ext cx="3410066" cy="957263"/>
          </a:xfrm>
          <a:prstGeom prst="rect">
            <a:avLst/>
          </a:prstGeom>
        </p:spPr>
      </p:pic>
      <p:cxnSp>
        <p:nvCxnSpPr>
          <p:cNvPr id="15" name="Ravni poveznik sa strelicom 14">
            <a:extLst>
              <a:ext uri="{FF2B5EF4-FFF2-40B4-BE49-F238E27FC236}">
                <a16:creationId xmlns:a16="http://schemas.microsoft.com/office/drawing/2014/main" id="{A2777BB0-2379-6843-55E9-E0AC346311DE}"/>
              </a:ext>
            </a:extLst>
          </p:cNvPr>
          <p:cNvCxnSpPr>
            <a:cxnSpLocks/>
          </p:cNvCxnSpPr>
          <p:nvPr/>
        </p:nvCxnSpPr>
        <p:spPr>
          <a:xfrm flipH="1">
            <a:off x="5961453" y="256666"/>
            <a:ext cx="688709" cy="7076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avokutnik 15">
            <a:extLst>
              <a:ext uri="{FF2B5EF4-FFF2-40B4-BE49-F238E27FC236}">
                <a16:creationId xmlns:a16="http://schemas.microsoft.com/office/drawing/2014/main" id="{FB34E156-E51A-5CE6-BEF0-3051BFEE0689}"/>
              </a:ext>
            </a:extLst>
          </p:cNvPr>
          <p:cNvSpPr/>
          <p:nvPr/>
        </p:nvSpPr>
        <p:spPr>
          <a:xfrm>
            <a:off x="204517" y="3555199"/>
            <a:ext cx="2716211" cy="285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7" name="Pravokutnik 16">
            <a:extLst>
              <a:ext uri="{FF2B5EF4-FFF2-40B4-BE49-F238E27FC236}">
                <a16:creationId xmlns:a16="http://schemas.microsoft.com/office/drawing/2014/main" id="{EB2AE9A7-8565-B02B-0732-11C893873A61}"/>
              </a:ext>
            </a:extLst>
          </p:cNvPr>
          <p:cNvSpPr/>
          <p:nvPr/>
        </p:nvSpPr>
        <p:spPr>
          <a:xfrm>
            <a:off x="2283098" y="2279059"/>
            <a:ext cx="333267" cy="16084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D008A6-D20C-4A50-0B3B-2F68AEFFC0C2}"/>
              </a:ext>
            </a:extLst>
          </p:cNvPr>
          <p:cNvSpPr txBox="1"/>
          <p:nvPr/>
        </p:nvSpPr>
        <p:spPr>
          <a:xfrm>
            <a:off x="6986254" y="244434"/>
            <a:ext cx="1502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YA296 leads to reduction in </a:t>
            </a:r>
            <a:r>
              <a:rPr lang="en-US" sz="1200" b="1" dirty="0" err="1">
                <a:solidFill>
                  <a:srgbClr val="FF0000"/>
                </a:solidFill>
              </a:rPr>
              <a:t>galactosylation</a:t>
            </a:r>
            <a:r>
              <a:rPr lang="en-US" sz="1200" b="1" dirty="0">
                <a:solidFill>
                  <a:srgbClr val="FF0000"/>
                </a:solidFill>
              </a:rPr>
              <a:t> and sialylation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373EFA-0455-96B9-B49F-B601DF72A086}"/>
              </a:ext>
            </a:extLst>
          </p:cNvPr>
          <p:cNvSpPr txBox="1"/>
          <p:nvPr/>
        </p:nvSpPr>
        <p:spPr>
          <a:xfrm>
            <a:off x="152205" y="1146819"/>
            <a:ext cx="312392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Human IgG3 with introduced</a:t>
            </a:r>
          </a:p>
          <a:p>
            <a:r>
              <a:rPr lang="en-US" sz="1350" dirty="0"/>
              <a:t>mutations</a:t>
            </a:r>
          </a:p>
        </p:txBody>
      </p:sp>
    </p:spTree>
    <p:extLst>
      <p:ext uri="{BB962C8B-B14F-4D97-AF65-F5344CB8AC3E}">
        <p14:creationId xmlns:p14="http://schemas.microsoft.com/office/powerpoint/2010/main" val="382519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36850">
        <p:fade/>
      </p:transition>
    </mc:Choice>
    <mc:Fallback xmlns="">
      <p:transition spd="med" advTm="13685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24645-F0FA-9875-690A-C304F727B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62EED-02E4-E1F0-FEE9-41C978F6F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Human IgG1</a:t>
            </a:r>
          </a:p>
          <a:p>
            <a:r>
              <a:rPr lang="en-US" sz="1600" dirty="0"/>
              <a:t>1 wild type heavy chain and 3 mutations:</a:t>
            </a:r>
          </a:p>
          <a:p>
            <a:pPr marL="0" indent="0">
              <a:buNone/>
            </a:pPr>
            <a:r>
              <a:rPr lang="en-US" sz="1600" dirty="0"/>
              <a:t>Y296, YA296, YI296, YF296</a:t>
            </a:r>
          </a:p>
          <a:p>
            <a:r>
              <a:rPr lang="en-US" sz="1600" dirty="0"/>
              <a:t>2 types of light chain</a:t>
            </a:r>
          </a:p>
          <a:p>
            <a:r>
              <a:rPr lang="en-US" sz="1600" dirty="0"/>
              <a:t>Every  type of samples produced in triplicates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1589FA-2CA7-5632-F105-B23940DE3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24" y="3174245"/>
            <a:ext cx="7012418" cy="1538208"/>
          </a:xfrm>
          <a:prstGeom prst="rect">
            <a:avLst/>
          </a:prstGeom>
        </p:spPr>
      </p:pic>
      <p:pic>
        <p:nvPicPr>
          <p:cNvPr id="6" name="Picture 5" descr="A structure of a chemical formula&#10;&#10;AI-generated content may be incorrect.">
            <a:extLst>
              <a:ext uri="{FF2B5EF4-FFF2-40B4-BE49-F238E27FC236}">
                <a16:creationId xmlns:a16="http://schemas.microsoft.com/office/drawing/2014/main" id="{6E700AF3-3DCF-F96C-4EEF-9490C86A28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942" y="84328"/>
            <a:ext cx="1218281" cy="1537830"/>
          </a:xfrm>
          <a:prstGeom prst="rect">
            <a:avLst/>
          </a:prstGeom>
        </p:spPr>
      </p:pic>
      <p:pic>
        <p:nvPicPr>
          <p:cNvPr id="8" name="Picture 7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355127CA-7E12-0B3F-1796-44600AF576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686" y="1750119"/>
            <a:ext cx="1218281" cy="1643262"/>
          </a:xfrm>
          <a:prstGeom prst="rect">
            <a:avLst/>
          </a:prstGeom>
        </p:spPr>
      </p:pic>
      <p:pic>
        <p:nvPicPr>
          <p:cNvPr id="10" name="Picture 9" descr="A structure of a chemical formula&#10;&#10;AI-generated content may be incorrect.">
            <a:extLst>
              <a:ext uri="{FF2B5EF4-FFF2-40B4-BE49-F238E27FC236}">
                <a16:creationId xmlns:a16="http://schemas.microsoft.com/office/drawing/2014/main" id="{D10BCB9E-88B4-27F0-5DB3-2614CE1616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275" y="501607"/>
            <a:ext cx="1063371" cy="1538208"/>
          </a:xfrm>
          <a:prstGeom prst="rect">
            <a:avLst/>
          </a:prstGeom>
        </p:spPr>
      </p:pic>
      <p:pic>
        <p:nvPicPr>
          <p:cNvPr id="12" name="Picture 11" descr="A structure of a chemical formula&#10;&#10;AI-generated content may be incorrect.">
            <a:extLst>
              <a:ext uri="{FF2B5EF4-FFF2-40B4-BE49-F238E27FC236}">
                <a16:creationId xmlns:a16="http://schemas.microsoft.com/office/drawing/2014/main" id="{7DDFB226-94F3-D9DF-2F44-1EF9846381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103" y="1447412"/>
            <a:ext cx="1127005" cy="170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78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29465">
        <p:fade/>
      </p:transition>
    </mc:Choice>
    <mc:Fallback xmlns="">
      <p:transition spd="med" advTm="129465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IgG</a:t>
            </a:r>
            <a:r>
              <a:rPr lang="hr-HR" dirty="0"/>
              <a:t> </a:t>
            </a:r>
            <a:r>
              <a:rPr lang="hr-HR" dirty="0" err="1"/>
              <a:t>production</a:t>
            </a:r>
            <a:r>
              <a:rPr lang="hr-HR" dirty="0"/>
              <a:t> </a:t>
            </a:r>
            <a:r>
              <a:rPr lang="hr-HR" dirty="0" err="1"/>
              <a:t>in</a:t>
            </a:r>
            <a:r>
              <a:rPr lang="hr-HR" dirty="0"/>
              <a:t> </a:t>
            </a:r>
            <a:r>
              <a:rPr lang="hr-HR" dirty="0" err="1"/>
              <a:t>cell</a:t>
            </a:r>
            <a:r>
              <a:rPr lang="hr-HR" dirty="0"/>
              <a:t> </a:t>
            </a:r>
            <a:r>
              <a:rPr lang="hr-HR" dirty="0" err="1"/>
              <a:t>culture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5763" indent="-385763">
              <a:buFont typeface="+mj-lt"/>
              <a:buAutoNum type="arabicPeriod"/>
            </a:pPr>
            <a:r>
              <a:rPr lang="hr-HR" sz="2000" b="0" dirty="0"/>
              <a:t>Site-</a:t>
            </a:r>
            <a:r>
              <a:rPr lang="hr-HR" sz="2000" b="0" dirty="0" err="1"/>
              <a:t>directed</a:t>
            </a:r>
            <a:r>
              <a:rPr lang="hr-HR" sz="2000" b="0" dirty="0"/>
              <a:t> </a:t>
            </a:r>
            <a:r>
              <a:rPr lang="hr-HR" sz="2000" b="0" dirty="0" err="1"/>
              <a:t>mutagenesis</a:t>
            </a:r>
            <a:r>
              <a:rPr lang="hr-HR" sz="2000" b="0" dirty="0"/>
              <a:t> </a:t>
            </a:r>
            <a:r>
              <a:rPr lang="hr-HR" sz="2000" b="0" dirty="0" err="1"/>
              <a:t>of</a:t>
            </a:r>
            <a:r>
              <a:rPr lang="hr-HR" sz="2000" b="0" dirty="0"/>
              <a:t> </a:t>
            </a:r>
            <a:r>
              <a:rPr lang="hr-HR" sz="2000" b="0" dirty="0" err="1"/>
              <a:t>IgG</a:t>
            </a:r>
            <a:r>
              <a:rPr lang="hr-HR" sz="2000" b="0" dirty="0"/>
              <a:t> heavy </a:t>
            </a:r>
            <a:r>
              <a:rPr lang="hr-HR" sz="2000" b="0" dirty="0" err="1"/>
              <a:t>chain</a:t>
            </a:r>
            <a:r>
              <a:rPr lang="hr-HR" sz="2000" b="0" dirty="0"/>
              <a:t> (Q5 Site-</a:t>
            </a:r>
            <a:r>
              <a:rPr lang="hr-HR" sz="2000" b="0" dirty="0" err="1"/>
              <a:t>Directed</a:t>
            </a:r>
            <a:r>
              <a:rPr lang="hr-HR" sz="2000" b="0" dirty="0"/>
              <a:t> </a:t>
            </a:r>
            <a:r>
              <a:rPr lang="hr-HR" sz="2000" b="0" dirty="0" err="1"/>
              <a:t>Mutagenesis</a:t>
            </a:r>
            <a:r>
              <a:rPr lang="hr-HR" sz="2000" b="0" dirty="0"/>
              <a:t> Kit)</a:t>
            </a:r>
          </a:p>
          <a:p>
            <a:pPr marL="385763" indent="-385763">
              <a:buFont typeface="+mj-lt"/>
              <a:buAutoNum type="arabicPeriod"/>
            </a:pPr>
            <a:r>
              <a:rPr lang="hr-HR" sz="2000" b="0" dirty="0" err="1"/>
              <a:t>Sequencing</a:t>
            </a:r>
            <a:r>
              <a:rPr lang="hr-HR" sz="2000" b="0" dirty="0"/>
              <a:t> to </a:t>
            </a:r>
            <a:r>
              <a:rPr lang="hr-HR" sz="2000" b="0" dirty="0" err="1"/>
              <a:t>confirm</a:t>
            </a:r>
            <a:r>
              <a:rPr lang="hr-HR" sz="2000" b="0" dirty="0"/>
              <a:t> </a:t>
            </a:r>
            <a:r>
              <a:rPr lang="hr-HR" sz="2000" b="0" dirty="0" err="1"/>
              <a:t>the</a:t>
            </a:r>
            <a:r>
              <a:rPr lang="hr-HR" sz="2000" b="0" dirty="0"/>
              <a:t> </a:t>
            </a:r>
            <a:r>
              <a:rPr lang="hr-HR" sz="2000" b="0" dirty="0" err="1"/>
              <a:t>mutations</a:t>
            </a:r>
            <a:endParaRPr lang="hr-HR" sz="2000" b="0" dirty="0"/>
          </a:p>
          <a:p>
            <a:pPr marL="385763" indent="-385763">
              <a:buFont typeface="+mj-lt"/>
              <a:buAutoNum type="arabicPeriod"/>
            </a:pPr>
            <a:r>
              <a:rPr lang="hr-HR" sz="2000" b="0" dirty="0" err="1"/>
              <a:t>Assembly</a:t>
            </a:r>
            <a:r>
              <a:rPr lang="hr-HR" sz="2000" b="0" dirty="0"/>
              <a:t> </a:t>
            </a:r>
            <a:r>
              <a:rPr lang="hr-HR" sz="2000" b="0" dirty="0" err="1"/>
              <a:t>into</a:t>
            </a:r>
            <a:r>
              <a:rPr lang="hr-HR" sz="2000" b="0" dirty="0"/>
              <a:t> </a:t>
            </a:r>
            <a:r>
              <a:rPr lang="hr-HR" sz="2000" b="0" dirty="0" err="1"/>
              <a:t>backbone</a:t>
            </a:r>
            <a:r>
              <a:rPr lang="hr-HR" sz="2000" b="0" dirty="0"/>
              <a:t> </a:t>
            </a:r>
            <a:r>
              <a:rPr lang="hr-HR" sz="2000" b="0" dirty="0" err="1"/>
              <a:t>plasmid</a:t>
            </a:r>
            <a:r>
              <a:rPr lang="hr-HR" sz="2000" b="0" dirty="0"/>
              <a:t> for </a:t>
            </a:r>
            <a:r>
              <a:rPr lang="hr-HR" sz="2000" b="0" dirty="0" err="1"/>
              <a:t>transfection</a:t>
            </a:r>
            <a:r>
              <a:rPr lang="hr-HR" sz="2000" b="0" dirty="0"/>
              <a:t> (</a:t>
            </a:r>
            <a:r>
              <a:rPr lang="hr-HR" sz="2000" b="0" dirty="0" err="1"/>
              <a:t>Modules</a:t>
            </a:r>
            <a:r>
              <a:rPr lang="hr-HR" sz="2000" b="0" dirty="0"/>
              <a:t>: </a:t>
            </a:r>
            <a:r>
              <a:rPr lang="hr-HR" sz="2000" b="0" dirty="0" err="1"/>
              <a:t>Cbh</a:t>
            </a:r>
            <a:r>
              <a:rPr lang="hr-HR" sz="2000" b="0" dirty="0"/>
              <a:t> </a:t>
            </a:r>
            <a:r>
              <a:rPr lang="hr-HR" sz="2000" b="0" dirty="0" err="1"/>
              <a:t>promoter</a:t>
            </a:r>
            <a:r>
              <a:rPr lang="hr-HR" sz="2000" b="0" dirty="0"/>
              <a:t>, </a:t>
            </a:r>
            <a:r>
              <a:rPr lang="hr-HR" sz="2000" b="0" dirty="0" err="1"/>
              <a:t>IgG</a:t>
            </a:r>
            <a:r>
              <a:rPr lang="hr-HR" sz="2000" b="0" dirty="0"/>
              <a:t> heavy </a:t>
            </a:r>
            <a:r>
              <a:rPr lang="hr-HR" sz="2000" b="0" dirty="0" err="1"/>
              <a:t>chain</a:t>
            </a:r>
            <a:r>
              <a:rPr lang="hr-HR" sz="2000" b="0" dirty="0"/>
              <a:t>, </a:t>
            </a:r>
            <a:r>
              <a:rPr lang="hr-HR" sz="2000" b="0" dirty="0" err="1"/>
              <a:t>IgG</a:t>
            </a:r>
            <a:r>
              <a:rPr lang="hr-HR" sz="2000" b="0" dirty="0"/>
              <a:t> </a:t>
            </a:r>
            <a:r>
              <a:rPr lang="hr-HR" sz="2000" b="0" dirty="0" err="1"/>
              <a:t>light</a:t>
            </a:r>
            <a:r>
              <a:rPr lang="hr-HR" sz="2000" b="0" dirty="0"/>
              <a:t> </a:t>
            </a:r>
            <a:r>
              <a:rPr lang="hr-HR" sz="2000" b="0" dirty="0" err="1"/>
              <a:t>chain</a:t>
            </a:r>
            <a:r>
              <a:rPr lang="hr-HR" sz="2000" b="0" dirty="0"/>
              <a:t>, </a:t>
            </a:r>
            <a:r>
              <a:rPr lang="hr-HR" sz="2000" b="0" dirty="0" err="1"/>
              <a:t>pTerH</a:t>
            </a:r>
            <a:r>
              <a:rPr lang="hr-HR" sz="2000" b="0" dirty="0"/>
              <a:t> terminator)</a:t>
            </a:r>
          </a:p>
          <a:p>
            <a:pPr marL="385763" indent="-385763">
              <a:buFont typeface="+mj-lt"/>
              <a:buAutoNum type="arabicPeriod"/>
            </a:pPr>
            <a:r>
              <a:rPr lang="hr-HR" sz="2000" b="0" dirty="0" err="1"/>
              <a:t>Transfection</a:t>
            </a:r>
            <a:r>
              <a:rPr lang="hr-HR" sz="2000" b="0" dirty="0"/>
              <a:t> </a:t>
            </a:r>
            <a:r>
              <a:rPr lang="hr-HR" sz="2000" b="0" dirty="0" err="1"/>
              <a:t>of</a:t>
            </a:r>
            <a:r>
              <a:rPr lang="hr-HR" sz="2000" b="0" dirty="0"/>
              <a:t> </a:t>
            </a:r>
            <a:r>
              <a:rPr lang="hr-HR" sz="2000" b="0" dirty="0" err="1"/>
              <a:t>FreeStyle</a:t>
            </a:r>
            <a:r>
              <a:rPr lang="hr-HR" sz="2000" b="0" dirty="0"/>
              <a:t> 293-F </a:t>
            </a:r>
            <a:r>
              <a:rPr lang="hr-HR" sz="2000" b="0" dirty="0" err="1"/>
              <a:t>cells</a:t>
            </a:r>
            <a:endParaRPr lang="hr-HR" sz="2000" b="0" dirty="0"/>
          </a:p>
          <a:p>
            <a:pPr marL="385763" indent="-385763">
              <a:buFont typeface="+mj-lt"/>
              <a:buAutoNum type="arabicPeriod"/>
            </a:pPr>
            <a:r>
              <a:rPr lang="hr-HR" sz="2000" b="0" dirty="0" err="1"/>
              <a:t>IgG</a:t>
            </a:r>
            <a:r>
              <a:rPr lang="hr-HR" sz="2000" b="0" dirty="0"/>
              <a:t> </a:t>
            </a:r>
            <a:r>
              <a:rPr lang="hr-HR" sz="2000" b="0" dirty="0" err="1"/>
              <a:t>secretion</a:t>
            </a:r>
            <a:r>
              <a:rPr lang="hr-HR" sz="2000" b="0" dirty="0"/>
              <a:t> for 5 </a:t>
            </a:r>
            <a:r>
              <a:rPr lang="hr-HR" sz="2000" b="0" dirty="0" err="1"/>
              <a:t>days</a:t>
            </a:r>
            <a:endParaRPr lang="hr-HR" sz="2000" b="0" dirty="0"/>
          </a:p>
          <a:p>
            <a:pPr marL="385763" indent="-385763">
              <a:buFont typeface="+mj-lt"/>
              <a:buAutoNum type="arabicPeriod"/>
            </a:pPr>
            <a:r>
              <a:rPr lang="hr-HR" sz="2000" b="0" dirty="0" err="1"/>
              <a:t>Supernatant</a:t>
            </a:r>
            <a:r>
              <a:rPr lang="hr-HR" sz="2000" b="0" dirty="0"/>
              <a:t> </a:t>
            </a:r>
            <a:r>
              <a:rPr lang="hr-HR" sz="2000" b="0" dirty="0" err="1"/>
              <a:t>isolation</a:t>
            </a:r>
            <a:r>
              <a:rPr lang="hr-HR" sz="2000" b="0" dirty="0"/>
              <a:t> for </a:t>
            </a:r>
            <a:r>
              <a:rPr lang="hr-HR" sz="2000" b="0" dirty="0" err="1"/>
              <a:t>IgG</a:t>
            </a:r>
            <a:r>
              <a:rPr lang="hr-HR" sz="2000" b="0" dirty="0"/>
              <a:t> glycome </a:t>
            </a:r>
            <a:r>
              <a:rPr lang="hr-HR" sz="2000" b="0" dirty="0" err="1"/>
              <a:t>analysis</a:t>
            </a:r>
            <a:endParaRPr lang="hr-HR" sz="2000" b="0" dirty="0"/>
          </a:p>
        </p:txBody>
      </p:sp>
    </p:spTree>
    <p:extLst>
      <p:ext uri="{BB962C8B-B14F-4D97-AF65-F5344CB8AC3E}">
        <p14:creationId xmlns:p14="http://schemas.microsoft.com/office/powerpoint/2010/main" val="1042244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1130">
        <p:fade/>
      </p:transition>
    </mc:Choice>
    <mc:Fallback xmlns="">
      <p:transition spd="med" advTm="2113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44D7B6-981F-0714-BDF6-CB1523081F69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07" t="74682"/>
          <a:stretch/>
        </p:blipFill>
        <p:spPr>
          <a:xfrm>
            <a:off x="3417331" y="806916"/>
            <a:ext cx="2189344" cy="458487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D861E008-F2BB-26EA-0B2D-4630A8E7E263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07" t="25108" b="45704"/>
          <a:stretch/>
        </p:blipFill>
        <p:spPr>
          <a:xfrm>
            <a:off x="3417331" y="290017"/>
            <a:ext cx="2189344" cy="528552"/>
          </a:xfrm>
          <a:prstGeom prst="rect">
            <a:avLst/>
          </a:prstGeom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B71A5BEC-DA55-94D0-3B4A-AF802BF9184A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07" t="74682"/>
          <a:stretch/>
        </p:blipFill>
        <p:spPr>
          <a:xfrm>
            <a:off x="544287" y="830175"/>
            <a:ext cx="2189344" cy="458487"/>
          </a:xfrm>
          <a:prstGeom prst="rect">
            <a:avLst/>
          </a:prstGeom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38CD0416-C3C2-341F-977C-08E3AA7A11FA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07" t="25108" b="45704"/>
          <a:stretch/>
        </p:blipFill>
        <p:spPr>
          <a:xfrm>
            <a:off x="544287" y="301467"/>
            <a:ext cx="2189344" cy="528552"/>
          </a:xfrm>
          <a:prstGeom prst="rect">
            <a:avLst/>
          </a:prstGeom>
        </p:spPr>
      </p:pic>
      <p:grpSp>
        <p:nvGrpSpPr>
          <p:cNvPr id="13" name="Grupa 12">
            <a:extLst>
              <a:ext uri="{FF2B5EF4-FFF2-40B4-BE49-F238E27FC236}">
                <a16:creationId xmlns:a16="http://schemas.microsoft.com/office/drawing/2014/main" id="{CCE226F1-78BB-DAC8-81E0-F2628F2539B2}"/>
              </a:ext>
            </a:extLst>
          </p:cNvPr>
          <p:cNvGrpSpPr/>
          <p:nvPr/>
        </p:nvGrpSpPr>
        <p:grpSpPr>
          <a:xfrm>
            <a:off x="1094661" y="415813"/>
            <a:ext cx="1121165" cy="295637"/>
            <a:chOff x="1094661" y="415813"/>
            <a:chExt cx="1121165" cy="295637"/>
          </a:xfrm>
        </p:grpSpPr>
        <p:sp>
          <p:nvSpPr>
            <p:cNvPr id="9" name="Rectangle: Rounded Corners 11">
              <a:extLst>
                <a:ext uri="{FF2B5EF4-FFF2-40B4-BE49-F238E27FC236}">
                  <a16:creationId xmlns:a16="http://schemas.microsoft.com/office/drawing/2014/main" id="{30B22372-BB73-74CE-93CB-AB80970EEF2E}"/>
                </a:ext>
              </a:extLst>
            </p:cNvPr>
            <p:cNvSpPr/>
            <p:nvPr/>
          </p:nvSpPr>
          <p:spPr>
            <a:xfrm>
              <a:off x="1094661" y="506885"/>
              <a:ext cx="560652" cy="200173"/>
            </a:xfrm>
            <a:prstGeom prst="roundRect">
              <a:avLst>
                <a:gd name="adj" fmla="val 36735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sz="1050" dirty="0"/>
                <a:t>HC</a:t>
              </a:r>
              <a:endParaRPr lang="en-US" sz="1350" dirty="0"/>
            </a:p>
          </p:txBody>
        </p:sp>
        <p:sp>
          <p:nvSpPr>
            <p:cNvPr id="10" name="Rectangle: Rounded Corners 12">
              <a:extLst>
                <a:ext uri="{FF2B5EF4-FFF2-40B4-BE49-F238E27FC236}">
                  <a16:creationId xmlns:a16="http://schemas.microsoft.com/office/drawing/2014/main" id="{67CFBE75-5C22-08A1-F8BE-A455857A21AA}"/>
                </a:ext>
              </a:extLst>
            </p:cNvPr>
            <p:cNvSpPr/>
            <p:nvPr/>
          </p:nvSpPr>
          <p:spPr>
            <a:xfrm>
              <a:off x="1655174" y="511277"/>
              <a:ext cx="560652" cy="200173"/>
            </a:xfrm>
            <a:prstGeom prst="roundRect">
              <a:avLst>
                <a:gd name="adj" fmla="val 36735"/>
              </a:avLst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sz="1050" dirty="0"/>
                <a:t>LC</a:t>
              </a:r>
              <a:endParaRPr lang="en-US" sz="1350" dirty="0"/>
            </a:p>
          </p:txBody>
        </p:sp>
        <p:sp>
          <p:nvSpPr>
            <p:cNvPr id="11" name="Star: 5 Points 15">
              <a:extLst>
                <a:ext uri="{FF2B5EF4-FFF2-40B4-BE49-F238E27FC236}">
                  <a16:creationId xmlns:a16="http://schemas.microsoft.com/office/drawing/2014/main" id="{5FFD2F8A-E2E8-1595-867D-8BAD7E5B192D}"/>
                </a:ext>
              </a:extLst>
            </p:cNvPr>
            <p:cNvSpPr/>
            <p:nvPr/>
          </p:nvSpPr>
          <p:spPr>
            <a:xfrm>
              <a:off x="1455546" y="416387"/>
              <a:ext cx="151592" cy="147094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Star: 5 Points 16">
              <a:extLst>
                <a:ext uri="{FF2B5EF4-FFF2-40B4-BE49-F238E27FC236}">
                  <a16:creationId xmlns:a16="http://schemas.microsoft.com/office/drawing/2014/main" id="{0EBA84C5-2823-2C57-C460-6086A8C55046}"/>
                </a:ext>
              </a:extLst>
            </p:cNvPr>
            <p:cNvSpPr/>
            <p:nvPr/>
          </p:nvSpPr>
          <p:spPr>
            <a:xfrm>
              <a:off x="2005732" y="415813"/>
              <a:ext cx="151592" cy="147094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B77557-13F9-218B-85AA-9D3B0CBA3016}"/>
              </a:ext>
            </a:extLst>
          </p:cNvPr>
          <p:cNvGrpSpPr/>
          <p:nvPr/>
        </p:nvGrpSpPr>
        <p:grpSpPr>
          <a:xfrm>
            <a:off x="3996303" y="404363"/>
            <a:ext cx="1121165" cy="299859"/>
            <a:chOff x="1222439" y="566953"/>
            <a:chExt cx="1121165" cy="299859"/>
          </a:xfrm>
        </p:grpSpPr>
        <p:sp>
          <p:nvSpPr>
            <p:cNvPr id="14" name="Rectangle: Rounded Corners 9">
              <a:extLst>
                <a:ext uri="{FF2B5EF4-FFF2-40B4-BE49-F238E27FC236}">
                  <a16:creationId xmlns:a16="http://schemas.microsoft.com/office/drawing/2014/main" id="{7AFD08B7-C9C7-FF25-BE78-E8DAF1B362E0}"/>
                </a:ext>
              </a:extLst>
            </p:cNvPr>
            <p:cNvSpPr/>
            <p:nvPr/>
          </p:nvSpPr>
          <p:spPr>
            <a:xfrm>
              <a:off x="1222439" y="662247"/>
              <a:ext cx="560652" cy="200173"/>
            </a:xfrm>
            <a:prstGeom prst="roundRect">
              <a:avLst>
                <a:gd name="adj" fmla="val 36735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sz="1050" dirty="0"/>
                <a:t>HC</a:t>
              </a:r>
              <a:endParaRPr lang="en-US" sz="1350" dirty="0"/>
            </a:p>
          </p:txBody>
        </p:sp>
        <p:sp>
          <p:nvSpPr>
            <p:cNvPr id="15" name="Rectangle: Rounded Corners 10">
              <a:extLst>
                <a:ext uri="{FF2B5EF4-FFF2-40B4-BE49-F238E27FC236}">
                  <a16:creationId xmlns:a16="http://schemas.microsoft.com/office/drawing/2014/main" id="{1C8B1816-9865-4FC6-FFEB-CBC98826B101}"/>
                </a:ext>
              </a:extLst>
            </p:cNvPr>
            <p:cNvSpPr/>
            <p:nvPr/>
          </p:nvSpPr>
          <p:spPr>
            <a:xfrm>
              <a:off x="1782952" y="666639"/>
              <a:ext cx="560652" cy="200173"/>
            </a:xfrm>
            <a:prstGeom prst="roundRect">
              <a:avLst>
                <a:gd name="adj" fmla="val 36735"/>
              </a:avLst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sz="1050" dirty="0"/>
                <a:t>LC</a:t>
              </a:r>
              <a:endParaRPr lang="en-US" sz="1350" dirty="0"/>
            </a:p>
          </p:txBody>
        </p:sp>
        <p:sp>
          <p:nvSpPr>
            <p:cNvPr id="16" name="Star: 5 Points 17">
              <a:extLst>
                <a:ext uri="{FF2B5EF4-FFF2-40B4-BE49-F238E27FC236}">
                  <a16:creationId xmlns:a16="http://schemas.microsoft.com/office/drawing/2014/main" id="{14A24FC7-EE94-E93A-B689-AA1B1D9B98C6}"/>
                </a:ext>
              </a:extLst>
            </p:cNvPr>
            <p:cNvSpPr/>
            <p:nvPr/>
          </p:nvSpPr>
          <p:spPr>
            <a:xfrm>
              <a:off x="1571433" y="566953"/>
              <a:ext cx="151592" cy="147094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8" name="Star: 5 Points 16">
            <a:extLst>
              <a:ext uri="{FF2B5EF4-FFF2-40B4-BE49-F238E27FC236}">
                <a16:creationId xmlns:a16="http://schemas.microsoft.com/office/drawing/2014/main" id="{DB7FD391-CC1E-76D9-AD78-57E5F7639348}"/>
              </a:ext>
            </a:extLst>
          </p:cNvPr>
          <p:cNvSpPr/>
          <p:nvPr/>
        </p:nvSpPr>
        <p:spPr>
          <a:xfrm>
            <a:off x="6290375" y="333652"/>
            <a:ext cx="151592" cy="147094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6837DF-0FF7-9F14-1BB8-485F6568DA44}"/>
              </a:ext>
            </a:extLst>
          </p:cNvPr>
          <p:cNvSpPr txBox="1"/>
          <p:nvPr/>
        </p:nvSpPr>
        <p:spPr>
          <a:xfrm>
            <a:off x="6402687" y="222533"/>
            <a:ext cx="2032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/>
              <a:t>N-</a:t>
            </a:r>
            <a:r>
              <a:rPr lang="hr-HR" dirty="0" err="1"/>
              <a:t>Glycosylation</a:t>
            </a:r>
            <a:r>
              <a:rPr lang="hr-HR" dirty="0"/>
              <a:t> site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73AD8D-58FB-8047-E07A-F37FB0861067}"/>
              </a:ext>
            </a:extLst>
          </p:cNvPr>
          <p:cNvSpPr txBox="1"/>
          <p:nvPr/>
        </p:nvSpPr>
        <p:spPr>
          <a:xfrm>
            <a:off x="311606" y="178628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E9E120-8D50-9C66-EFA9-D5B481A4F77C}"/>
              </a:ext>
            </a:extLst>
          </p:cNvPr>
          <p:cNvSpPr txBox="1"/>
          <p:nvPr/>
        </p:nvSpPr>
        <p:spPr>
          <a:xfrm>
            <a:off x="3083698" y="175415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pic>
        <p:nvPicPr>
          <p:cNvPr id="44" name="Slika 5">
            <a:extLst>
              <a:ext uri="{FF2B5EF4-FFF2-40B4-BE49-F238E27FC236}">
                <a16:creationId xmlns:a16="http://schemas.microsoft.com/office/drawing/2014/main" id="{7D38E1FE-03E8-ECB2-4D1E-3D4580CB4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37" y="1732061"/>
            <a:ext cx="8367103" cy="980971"/>
          </a:xfrm>
          <a:prstGeom prst="rect">
            <a:avLst/>
          </a:prstGeom>
        </p:spPr>
      </p:pic>
      <p:sp>
        <p:nvSpPr>
          <p:cNvPr id="45" name="Pravokutnik 6">
            <a:extLst>
              <a:ext uri="{FF2B5EF4-FFF2-40B4-BE49-F238E27FC236}">
                <a16:creationId xmlns:a16="http://schemas.microsoft.com/office/drawing/2014/main" id="{A8999AC6-F7C0-D71C-CAA8-7C661E1E1FE8}"/>
              </a:ext>
            </a:extLst>
          </p:cNvPr>
          <p:cNvSpPr/>
          <p:nvPr/>
        </p:nvSpPr>
        <p:spPr>
          <a:xfrm>
            <a:off x="2361364" y="2102609"/>
            <a:ext cx="569728" cy="2539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279DAC-19A4-36AD-F3FB-9BE5E3CFEBE3}"/>
              </a:ext>
            </a:extLst>
          </p:cNvPr>
          <p:cNvSpPr txBox="1"/>
          <p:nvPr/>
        </p:nvSpPr>
        <p:spPr>
          <a:xfrm>
            <a:off x="2646228" y="2671479"/>
            <a:ext cx="11641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</a:rPr>
              <a:t>Tryptic glycopeptide</a:t>
            </a:r>
          </a:p>
        </p:txBody>
      </p:sp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BCD2B119-38FD-77B5-B6A9-A76A3DC59DD9}"/>
              </a:ext>
            </a:extLst>
          </p:cNvPr>
          <p:cNvCxnSpPr/>
          <p:nvPr/>
        </p:nvCxnSpPr>
        <p:spPr>
          <a:xfrm rot="10800000">
            <a:off x="2931091" y="2357618"/>
            <a:ext cx="336746" cy="280988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FC03E6D-E1A2-7C59-6739-DA0FACF11BAC}"/>
              </a:ext>
            </a:extLst>
          </p:cNvPr>
          <p:cNvSpPr txBox="1"/>
          <p:nvPr/>
        </p:nvSpPr>
        <p:spPr>
          <a:xfrm>
            <a:off x="118978" y="1301292"/>
            <a:ext cx="1344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/>
              <a:t>H</a:t>
            </a:r>
            <a:r>
              <a:rPr lang="en-GB" dirty="0" err="1"/>
              <a:t>eavy</a:t>
            </a:r>
            <a:r>
              <a:rPr lang="en-GB" dirty="0"/>
              <a:t> </a:t>
            </a:r>
            <a:r>
              <a:rPr lang="hr-HR" dirty="0"/>
              <a:t>C</a:t>
            </a:r>
            <a:r>
              <a:rPr lang="en-GB" dirty="0"/>
              <a:t>hain</a:t>
            </a:r>
            <a:endParaRPr lang="en-US" dirty="0"/>
          </a:p>
        </p:txBody>
      </p:sp>
      <p:sp>
        <p:nvSpPr>
          <p:cNvPr id="50" name="TekstniOkvir 7">
            <a:extLst>
              <a:ext uri="{FF2B5EF4-FFF2-40B4-BE49-F238E27FC236}">
                <a16:creationId xmlns:a16="http://schemas.microsoft.com/office/drawing/2014/main" id="{316F75F9-F5E9-F2F5-4B0E-34DDD0956013}"/>
              </a:ext>
            </a:extLst>
          </p:cNvPr>
          <p:cNvSpPr txBox="1"/>
          <p:nvPr/>
        </p:nvSpPr>
        <p:spPr>
          <a:xfrm>
            <a:off x="554855" y="3173861"/>
            <a:ext cx="1219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350" dirty="0"/>
              <a:t>EEQ</a:t>
            </a:r>
            <a:r>
              <a:rPr lang="hr-HR" sz="1350" b="1" dirty="0">
                <a:solidFill>
                  <a:srgbClr val="EE6EDF"/>
                </a:solidFill>
              </a:rPr>
              <a:t>Y</a:t>
            </a:r>
            <a:r>
              <a:rPr lang="hr-HR" sz="1350" dirty="0"/>
              <a:t>NSTYR</a:t>
            </a:r>
          </a:p>
          <a:p>
            <a:r>
              <a:rPr lang="hr-HR" sz="1350" dirty="0"/>
              <a:t>IgG1_Y</a:t>
            </a:r>
          </a:p>
          <a:p>
            <a:endParaRPr lang="hr-HR" sz="1350" dirty="0"/>
          </a:p>
          <a:p>
            <a:endParaRPr lang="en-GB" sz="1350" dirty="0"/>
          </a:p>
        </p:txBody>
      </p:sp>
      <p:sp>
        <p:nvSpPr>
          <p:cNvPr id="51" name="TekstniOkvir 8">
            <a:extLst>
              <a:ext uri="{FF2B5EF4-FFF2-40B4-BE49-F238E27FC236}">
                <a16:creationId xmlns:a16="http://schemas.microsoft.com/office/drawing/2014/main" id="{854F47D7-953D-2F0B-89D6-D9C8BD72749C}"/>
              </a:ext>
            </a:extLst>
          </p:cNvPr>
          <p:cNvSpPr txBox="1"/>
          <p:nvPr/>
        </p:nvSpPr>
        <p:spPr>
          <a:xfrm>
            <a:off x="3867599" y="2990011"/>
            <a:ext cx="10288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350" dirty="0"/>
              <a:t>EEQ</a:t>
            </a:r>
            <a:r>
              <a:rPr lang="hr-HR" sz="1350" b="1" dirty="0">
                <a:solidFill>
                  <a:srgbClr val="FFC000"/>
                </a:solidFill>
              </a:rPr>
              <a:t>A</a:t>
            </a:r>
            <a:r>
              <a:rPr lang="hr-HR" sz="1350" dirty="0"/>
              <a:t>NSTYR</a:t>
            </a:r>
          </a:p>
          <a:p>
            <a:r>
              <a:rPr lang="hr-HR" sz="1350" dirty="0"/>
              <a:t>IgG1_YA</a:t>
            </a:r>
          </a:p>
          <a:p>
            <a:endParaRPr lang="hr-HR" sz="1350" dirty="0"/>
          </a:p>
          <a:p>
            <a:endParaRPr lang="en-GB" sz="1350" dirty="0"/>
          </a:p>
        </p:txBody>
      </p:sp>
      <p:sp>
        <p:nvSpPr>
          <p:cNvPr id="52" name="TekstniOkvir 10">
            <a:extLst>
              <a:ext uri="{FF2B5EF4-FFF2-40B4-BE49-F238E27FC236}">
                <a16:creationId xmlns:a16="http://schemas.microsoft.com/office/drawing/2014/main" id="{C79CD054-78FE-579F-C40B-BE018BBA9C92}"/>
              </a:ext>
            </a:extLst>
          </p:cNvPr>
          <p:cNvSpPr txBox="1"/>
          <p:nvPr/>
        </p:nvSpPr>
        <p:spPr>
          <a:xfrm>
            <a:off x="4945696" y="3220979"/>
            <a:ext cx="9678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350" dirty="0"/>
              <a:t>EEQ</a:t>
            </a:r>
            <a:r>
              <a:rPr lang="hr-HR" sz="1350" dirty="0">
                <a:solidFill>
                  <a:srgbClr val="0070C0"/>
                </a:solidFill>
              </a:rPr>
              <a:t>I</a:t>
            </a:r>
            <a:r>
              <a:rPr lang="hr-HR" sz="1350" dirty="0"/>
              <a:t>NSTYR</a:t>
            </a:r>
          </a:p>
          <a:p>
            <a:r>
              <a:rPr lang="hr-HR" sz="1350" dirty="0"/>
              <a:t>IgG1_YI</a:t>
            </a:r>
          </a:p>
          <a:p>
            <a:endParaRPr lang="hr-HR" sz="1350" dirty="0"/>
          </a:p>
          <a:p>
            <a:endParaRPr lang="en-GB" sz="1350" dirty="0"/>
          </a:p>
        </p:txBody>
      </p:sp>
      <p:sp>
        <p:nvSpPr>
          <p:cNvPr id="53" name="TekstniOkvir 11">
            <a:extLst>
              <a:ext uri="{FF2B5EF4-FFF2-40B4-BE49-F238E27FC236}">
                <a16:creationId xmlns:a16="http://schemas.microsoft.com/office/drawing/2014/main" id="{2120E990-A073-A659-6B7D-A905383C54AF}"/>
              </a:ext>
            </a:extLst>
          </p:cNvPr>
          <p:cNvSpPr txBox="1"/>
          <p:nvPr/>
        </p:nvSpPr>
        <p:spPr>
          <a:xfrm>
            <a:off x="278752" y="2811947"/>
            <a:ext cx="222849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b="1" dirty="0"/>
              <a:t>Wild-type IgG1 (WT and NO)</a:t>
            </a:r>
          </a:p>
        </p:txBody>
      </p:sp>
      <p:sp>
        <p:nvSpPr>
          <p:cNvPr id="54" name="TekstniOkvir 12">
            <a:extLst>
              <a:ext uri="{FF2B5EF4-FFF2-40B4-BE49-F238E27FC236}">
                <a16:creationId xmlns:a16="http://schemas.microsoft.com/office/drawing/2014/main" id="{EDEAD0A6-5F66-AEC3-1983-4DBD34786BCE}"/>
              </a:ext>
            </a:extLst>
          </p:cNvPr>
          <p:cNvSpPr txBox="1"/>
          <p:nvPr/>
        </p:nvSpPr>
        <p:spPr>
          <a:xfrm>
            <a:off x="3856584" y="2689929"/>
            <a:ext cx="217822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b="1" dirty="0"/>
              <a:t>Mutated IgG1 (WT and NO) </a:t>
            </a:r>
          </a:p>
        </p:txBody>
      </p:sp>
      <p:sp>
        <p:nvSpPr>
          <p:cNvPr id="55" name="TekstniOkvir 9">
            <a:extLst>
              <a:ext uri="{FF2B5EF4-FFF2-40B4-BE49-F238E27FC236}">
                <a16:creationId xmlns:a16="http://schemas.microsoft.com/office/drawing/2014/main" id="{C0925CD0-F054-3DC6-561B-8BCB703F35F6}"/>
              </a:ext>
            </a:extLst>
          </p:cNvPr>
          <p:cNvSpPr txBox="1"/>
          <p:nvPr/>
        </p:nvSpPr>
        <p:spPr>
          <a:xfrm>
            <a:off x="3867599" y="3746645"/>
            <a:ext cx="10047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350" dirty="0"/>
              <a:t>EEQ</a:t>
            </a:r>
            <a:r>
              <a:rPr lang="hr-HR" sz="1350" b="1" dirty="0">
                <a:solidFill>
                  <a:schemeClr val="accent5">
                    <a:lumMod val="75000"/>
                  </a:schemeClr>
                </a:solidFill>
              </a:rPr>
              <a:t>F</a:t>
            </a:r>
            <a:r>
              <a:rPr lang="hr-HR" sz="1350" dirty="0"/>
              <a:t>NSTYR</a:t>
            </a:r>
          </a:p>
          <a:p>
            <a:r>
              <a:rPr lang="hr-HR" sz="1350" dirty="0"/>
              <a:t>IgG1_YF</a:t>
            </a:r>
          </a:p>
          <a:p>
            <a:endParaRPr lang="hr-HR" sz="1350" dirty="0"/>
          </a:p>
          <a:p>
            <a:endParaRPr lang="en-GB" sz="1350" dirty="0"/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E1C4295E-8B2B-6FD0-CE3A-EA8F7395F808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32" t="74682" r="22227"/>
          <a:stretch/>
        </p:blipFill>
        <p:spPr>
          <a:xfrm>
            <a:off x="710814" y="830019"/>
            <a:ext cx="560651" cy="458487"/>
          </a:xfrm>
          <a:prstGeom prst="rect">
            <a:avLst/>
          </a:prstGeom>
        </p:spPr>
      </p:pic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669A852D-1105-4918-FA49-36EBDC677C7E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32" t="74682" r="22227"/>
          <a:stretch/>
        </p:blipFill>
        <p:spPr>
          <a:xfrm>
            <a:off x="3587274" y="806915"/>
            <a:ext cx="560651" cy="458487"/>
          </a:xfrm>
          <a:prstGeom prst="rect">
            <a:avLst/>
          </a:prstGeom>
        </p:spPr>
      </p:pic>
      <p:sp>
        <p:nvSpPr>
          <p:cNvPr id="21" name="Zvijezda: 4 kraka 20">
            <a:extLst>
              <a:ext uri="{FF2B5EF4-FFF2-40B4-BE49-F238E27FC236}">
                <a16:creationId xmlns:a16="http://schemas.microsoft.com/office/drawing/2014/main" id="{06FFF79E-BD40-00A5-886D-954643D24902}"/>
              </a:ext>
            </a:extLst>
          </p:cNvPr>
          <p:cNvSpPr/>
          <p:nvPr/>
        </p:nvSpPr>
        <p:spPr>
          <a:xfrm>
            <a:off x="1183224" y="404363"/>
            <a:ext cx="114035" cy="147094"/>
          </a:xfrm>
          <a:prstGeom prst="star4">
            <a:avLst/>
          </a:prstGeom>
          <a:solidFill>
            <a:srgbClr val="7030A0"/>
          </a:solidFill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Zvijezda: 4 kraka 21">
            <a:extLst>
              <a:ext uri="{FF2B5EF4-FFF2-40B4-BE49-F238E27FC236}">
                <a16:creationId xmlns:a16="http://schemas.microsoft.com/office/drawing/2014/main" id="{2E25B4E1-8036-72C6-4CE8-4599ED2D5625}"/>
              </a:ext>
            </a:extLst>
          </p:cNvPr>
          <p:cNvSpPr/>
          <p:nvPr/>
        </p:nvSpPr>
        <p:spPr>
          <a:xfrm>
            <a:off x="4074992" y="413390"/>
            <a:ext cx="114035" cy="147094"/>
          </a:xfrm>
          <a:prstGeom prst="star4">
            <a:avLst/>
          </a:prstGeom>
          <a:solidFill>
            <a:srgbClr val="7030A0"/>
          </a:solidFill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175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4145">
        <p:fade/>
      </p:transition>
    </mc:Choice>
    <mc:Fallback xmlns="">
      <p:transition spd="med" advTm="24145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EA1-7708-9F19-1D36-8E61AAA1E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6841D3E-40EF-2828-D61B-27C72C7EF929}"/>
              </a:ext>
            </a:extLst>
          </p:cNvPr>
          <p:cNvSpPr txBox="1"/>
          <p:nvPr/>
        </p:nvSpPr>
        <p:spPr>
          <a:xfrm>
            <a:off x="233912" y="188776"/>
            <a:ext cx="316798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IgG isolation </a:t>
            </a:r>
            <a:r>
              <a:rPr lang="en-GB" sz="1350" dirty="0"/>
              <a:t>from cell supernatant</a:t>
            </a:r>
            <a:endParaRPr lang="ru-RU" sz="1350" dirty="0"/>
          </a:p>
        </p:txBody>
      </p:sp>
      <p:sp>
        <p:nvSpPr>
          <p:cNvPr id="4" name="Стрелка вниз 4">
            <a:extLst>
              <a:ext uri="{FF2B5EF4-FFF2-40B4-BE49-F238E27FC236}">
                <a16:creationId xmlns:a16="http://schemas.microsoft.com/office/drawing/2014/main" id="{1043946C-89A5-0D32-2851-D381801B0637}"/>
              </a:ext>
            </a:extLst>
          </p:cNvPr>
          <p:cNvSpPr/>
          <p:nvPr/>
        </p:nvSpPr>
        <p:spPr>
          <a:xfrm rot="16200000">
            <a:off x="2513814" y="738715"/>
            <a:ext cx="192964" cy="557217"/>
          </a:xfrm>
          <a:prstGeom prst="downArrow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102F4A6-F53A-56C8-F169-BD83C4E5109D}"/>
              </a:ext>
            </a:extLst>
          </p:cNvPr>
          <p:cNvSpPr txBox="1"/>
          <p:nvPr/>
        </p:nvSpPr>
        <p:spPr>
          <a:xfrm>
            <a:off x="3032258" y="1752541"/>
            <a:ext cx="186531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Digestion with trypsin</a:t>
            </a:r>
            <a:endParaRPr lang="ru-RU" sz="1350" dirty="0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72528F50-8AB3-CAAB-B91A-F4DB4CF1B983}"/>
              </a:ext>
            </a:extLst>
          </p:cNvPr>
          <p:cNvSpPr txBox="1"/>
          <p:nvPr/>
        </p:nvSpPr>
        <p:spPr>
          <a:xfrm>
            <a:off x="5407686" y="294784"/>
            <a:ext cx="1865313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Clean-up and enrichment  on C18 beads</a:t>
            </a:r>
            <a:endParaRPr lang="ru-RU" sz="1350" dirty="0"/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B7957A23-5DA0-F37C-6197-97F75A5B19CF}"/>
              </a:ext>
            </a:extLst>
          </p:cNvPr>
          <p:cNvSpPr txBox="1"/>
          <p:nvPr/>
        </p:nvSpPr>
        <p:spPr>
          <a:xfrm>
            <a:off x="5631605" y="1437959"/>
            <a:ext cx="230344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Nano-reverse-phase-LC-ESI-MS</a:t>
            </a:r>
            <a:endParaRPr lang="ru-RU" sz="1350" dirty="0"/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823AE8DF-E952-BECC-ABDB-0FF27B40992D}"/>
              </a:ext>
            </a:extLst>
          </p:cNvPr>
          <p:cNvSpPr txBox="1"/>
          <p:nvPr/>
        </p:nvSpPr>
        <p:spPr>
          <a:xfrm>
            <a:off x="6122967" y="2415865"/>
            <a:ext cx="1946708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Quantification of </a:t>
            </a:r>
            <a:r>
              <a:rPr lang="en-US" sz="1350" dirty="0" err="1"/>
              <a:t>glycoforms</a:t>
            </a:r>
            <a:r>
              <a:rPr lang="en-US" sz="1350" dirty="0"/>
              <a:t> per subclass with </a:t>
            </a:r>
            <a:r>
              <a:rPr lang="en-US" sz="1350" dirty="0" err="1"/>
              <a:t>LaCyTools</a:t>
            </a:r>
            <a:endParaRPr lang="ru-RU" sz="1350" dirty="0"/>
          </a:p>
        </p:txBody>
      </p:sp>
      <p:pic>
        <p:nvPicPr>
          <p:cNvPr id="22" name="Изображение 2" descr="peptides.png">
            <a:extLst>
              <a:ext uri="{FF2B5EF4-FFF2-40B4-BE49-F238E27FC236}">
                <a16:creationId xmlns:a16="http://schemas.microsoft.com/office/drawing/2014/main" id="{6BE8D024-99AB-42FC-647D-0F03895D8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388" y="447859"/>
            <a:ext cx="1387054" cy="1347044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C02AC30-CC20-16A2-B13D-9E0018C61AB9}"/>
              </a:ext>
            </a:extLst>
          </p:cNvPr>
          <p:cNvGrpSpPr/>
          <p:nvPr/>
        </p:nvGrpSpPr>
        <p:grpSpPr>
          <a:xfrm>
            <a:off x="908955" y="614445"/>
            <a:ext cx="1236210" cy="900247"/>
            <a:chOff x="2007579" y="881923"/>
            <a:chExt cx="3135235" cy="2283176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D8614DE-F60C-1317-A988-B757C0C9C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3246729">
              <a:off x="3681882" y="1775126"/>
              <a:ext cx="675435" cy="302869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B28E1D2-5BF3-DCC5-E40C-C4EE47BB4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3482669" y="2440086"/>
              <a:ext cx="1660145" cy="53630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A0FA638-85FC-2936-6732-21B5643E0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07579" y="2331443"/>
              <a:ext cx="1221934" cy="744418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8D9DFA1-CC15-AF8F-9886-D88CE583FB32}"/>
                </a:ext>
              </a:extLst>
            </p:cNvPr>
            <p:cNvSpPr/>
            <p:nvPr/>
          </p:nvSpPr>
          <p:spPr>
            <a:xfrm>
              <a:off x="3309116" y="1832906"/>
              <a:ext cx="71796" cy="28816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35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E0BDD29-8085-7641-977D-470246786780}"/>
                </a:ext>
              </a:extLst>
            </p:cNvPr>
            <p:cNvSpPr/>
            <p:nvPr/>
          </p:nvSpPr>
          <p:spPr>
            <a:xfrm>
              <a:off x="3303647" y="1921172"/>
              <a:ext cx="71796" cy="28816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350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9BB7D01-2AF1-72D1-2CBD-707A9476D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91042" y="1959234"/>
              <a:ext cx="0" cy="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0D4EDE84-F5DF-EF46-3965-AA3B6E522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92168" y="2055288"/>
              <a:ext cx="0" cy="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E9BF6450-3E88-2116-301D-2A14F28B9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93294" y="2151342"/>
              <a:ext cx="0" cy="0"/>
            </a:xfrm>
            <a:prstGeom prst="rect">
              <a:avLst/>
            </a:prstGeom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A95F2AB-B6EF-2E83-1CE8-E388543D411D}"/>
                </a:ext>
              </a:extLst>
            </p:cNvPr>
            <p:cNvGrpSpPr/>
            <p:nvPr/>
          </p:nvGrpSpPr>
          <p:grpSpPr>
            <a:xfrm>
              <a:off x="3380912" y="881923"/>
              <a:ext cx="567934" cy="2280582"/>
              <a:chOff x="4724400" y="1719730"/>
              <a:chExt cx="855898" cy="3618389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2C02A4AF-1225-183F-24DC-A86D32D23E7D}"/>
                  </a:ext>
                </a:extLst>
              </p:cNvPr>
              <p:cNvGrpSpPr/>
              <p:nvPr/>
            </p:nvGrpSpPr>
            <p:grpSpPr>
              <a:xfrm>
                <a:off x="4724400" y="1719730"/>
                <a:ext cx="855898" cy="3618389"/>
                <a:chOff x="4724400" y="1719730"/>
                <a:chExt cx="855898" cy="3618389"/>
              </a:xfrm>
            </p:grpSpPr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CFABFA40-0D80-7354-7F87-C9D0900BC217}"/>
                    </a:ext>
                  </a:extLst>
                </p:cNvPr>
                <p:cNvGrpSpPr/>
                <p:nvPr/>
              </p:nvGrpSpPr>
              <p:grpSpPr>
                <a:xfrm>
                  <a:off x="4724400" y="1719730"/>
                  <a:ext cx="640513" cy="3618389"/>
                  <a:chOff x="4724400" y="1719730"/>
                  <a:chExt cx="640513" cy="3618389"/>
                </a:xfrm>
              </p:grpSpPr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5819A1D4-34E1-A928-E18C-AEAC8AB11061}"/>
                      </a:ext>
                    </a:extLst>
                  </p:cNvPr>
                  <p:cNvSpPr/>
                  <p:nvPr/>
                </p:nvSpPr>
                <p:spPr>
                  <a:xfrm>
                    <a:off x="4724400" y="3126259"/>
                    <a:ext cx="197708" cy="221186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RU" sz="1350"/>
                  </a:p>
                </p:txBody>
              </p:sp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598FDDBB-CFC6-AA59-DEF1-028DD7A3A6E2}"/>
                      </a:ext>
                    </a:extLst>
                  </p:cNvPr>
                  <p:cNvSpPr/>
                  <p:nvPr/>
                </p:nvSpPr>
                <p:spPr>
                  <a:xfrm rot="2113563">
                    <a:off x="5167205" y="1719730"/>
                    <a:ext cx="197708" cy="1598141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RU" sz="1350"/>
                  </a:p>
                </p:txBody>
              </p:sp>
            </p:grp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5C87BAFB-3681-27F2-5788-77DA2961B170}"/>
                    </a:ext>
                  </a:extLst>
                </p:cNvPr>
                <p:cNvSpPr/>
                <p:nvPr/>
              </p:nvSpPr>
              <p:spPr>
                <a:xfrm rot="2113563">
                  <a:off x="5414106" y="1855375"/>
                  <a:ext cx="166192" cy="1440018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RU" sz="135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3F6067D4-DA71-3F8C-3203-7C991B318D64}"/>
                    </a:ext>
                  </a:extLst>
                </p:cNvPr>
                <p:cNvSpPr/>
                <p:nvPr/>
              </p:nvSpPr>
              <p:spPr>
                <a:xfrm rot="2051167">
                  <a:off x="5019359" y="3016954"/>
                  <a:ext cx="45719" cy="45719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RU" sz="1350"/>
                </a:p>
              </p:txBody>
            </p:sp>
          </p:grp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8CDA5AB-F874-D9FB-1C26-F708E7C3F6A4}"/>
                  </a:ext>
                </a:extLst>
              </p:cNvPr>
              <p:cNvCxnSpPr/>
              <p:nvPr/>
            </p:nvCxnSpPr>
            <p:spPr>
              <a:xfrm>
                <a:off x="4922108" y="4610100"/>
                <a:ext cx="151865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ABD2B2E-E05F-E6F3-14D7-6FE3E98353B5}"/>
                </a:ext>
              </a:extLst>
            </p:cNvPr>
            <p:cNvGrpSpPr/>
            <p:nvPr/>
          </p:nvGrpSpPr>
          <p:grpSpPr>
            <a:xfrm flipH="1">
              <a:off x="2760290" y="884517"/>
              <a:ext cx="574156" cy="2280582"/>
              <a:chOff x="4724400" y="1719730"/>
              <a:chExt cx="855901" cy="3618389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3308E38-3FDA-C3CC-44CB-85CF457FC7BE}"/>
                  </a:ext>
                </a:extLst>
              </p:cNvPr>
              <p:cNvGrpSpPr/>
              <p:nvPr/>
            </p:nvGrpSpPr>
            <p:grpSpPr>
              <a:xfrm>
                <a:off x="4724400" y="1719730"/>
                <a:ext cx="855901" cy="3618389"/>
                <a:chOff x="4724400" y="1719730"/>
                <a:chExt cx="855901" cy="3618389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D848A478-2139-6BA6-A406-CC65A4E6116A}"/>
                    </a:ext>
                  </a:extLst>
                </p:cNvPr>
                <p:cNvGrpSpPr/>
                <p:nvPr/>
              </p:nvGrpSpPr>
              <p:grpSpPr>
                <a:xfrm>
                  <a:off x="4724400" y="1719730"/>
                  <a:ext cx="640513" cy="3618389"/>
                  <a:chOff x="4724400" y="1719730"/>
                  <a:chExt cx="640513" cy="3618389"/>
                </a:xfrm>
              </p:grpSpPr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31DD5C0C-F01E-A5DA-72C5-F2CE61679477}"/>
                      </a:ext>
                    </a:extLst>
                  </p:cNvPr>
                  <p:cNvSpPr/>
                  <p:nvPr/>
                </p:nvSpPr>
                <p:spPr>
                  <a:xfrm>
                    <a:off x="4724400" y="3126259"/>
                    <a:ext cx="197708" cy="221186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RU" sz="1350"/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2CECA4F2-6C4A-FC45-91B5-D2373DDD4D47}"/>
                      </a:ext>
                    </a:extLst>
                  </p:cNvPr>
                  <p:cNvSpPr/>
                  <p:nvPr/>
                </p:nvSpPr>
                <p:spPr>
                  <a:xfrm rot="2113563">
                    <a:off x="5167205" y="1719730"/>
                    <a:ext cx="197708" cy="1598141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RU" sz="1350"/>
                  </a:p>
                </p:txBody>
              </p:sp>
            </p:grp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596F8623-44FA-ED9E-C27C-15F3AAAB1046}"/>
                    </a:ext>
                  </a:extLst>
                </p:cNvPr>
                <p:cNvSpPr/>
                <p:nvPr/>
              </p:nvSpPr>
              <p:spPr>
                <a:xfrm rot="2113563">
                  <a:off x="5414110" y="1855375"/>
                  <a:ext cx="166191" cy="1440018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RU" sz="1350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31166EFA-B0BF-59C5-489A-1A0EA9CB3B19}"/>
                    </a:ext>
                  </a:extLst>
                </p:cNvPr>
                <p:cNvSpPr/>
                <p:nvPr/>
              </p:nvSpPr>
              <p:spPr>
                <a:xfrm rot="2051167">
                  <a:off x="5019359" y="3016954"/>
                  <a:ext cx="45719" cy="45719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RU" sz="1350"/>
                </a:p>
              </p:txBody>
            </p:sp>
          </p:grp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823B1208-246B-1A77-9C0B-2C6FA58C27A3}"/>
                  </a:ext>
                </a:extLst>
              </p:cNvPr>
              <p:cNvCxnSpPr/>
              <p:nvPr/>
            </p:nvCxnSpPr>
            <p:spPr>
              <a:xfrm>
                <a:off x="4922108" y="4610100"/>
                <a:ext cx="151865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765377B-C0D7-F622-358B-BD5239A5A4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56304" y="1698018"/>
              <a:ext cx="46800" cy="370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D0CD9D8-D277-8E0C-FEA6-B05FC0AEA00E}"/>
              </a:ext>
            </a:extLst>
          </p:cNvPr>
          <p:cNvGrpSpPr/>
          <p:nvPr/>
        </p:nvGrpSpPr>
        <p:grpSpPr>
          <a:xfrm>
            <a:off x="415085" y="2076137"/>
            <a:ext cx="4156915" cy="2699902"/>
            <a:chOff x="1413479" y="149880"/>
            <a:chExt cx="6914890" cy="4626159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58BE3BAA-F518-B40C-8C52-3039D3AD7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13479" y="149880"/>
              <a:ext cx="6914890" cy="4626159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84D1B2F-05D3-19B3-AE67-1759B4CDDAC9}"/>
                </a:ext>
              </a:extLst>
            </p:cNvPr>
            <p:cNvSpPr txBox="1"/>
            <p:nvPr/>
          </p:nvSpPr>
          <p:spPr>
            <a:xfrm>
              <a:off x="2871669" y="468536"/>
              <a:ext cx="976488" cy="448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IgG1_Y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67A218A-2E52-9C81-2F09-6DB03B25F247}"/>
                </a:ext>
              </a:extLst>
            </p:cNvPr>
            <p:cNvSpPr txBox="1"/>
            <p:nvPr/>
          </p:nvSpPr>
          <p:spPr>
            <a:xfrm>
              <a:off x="3016512" y="1520222"/>
              <a:ext cx="1083150" cy="448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IgG1_YF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8CC0A67-7813-3E65-00F2-16DCF3F47580}"/>
                </a:ext>
              </a:extLst>
            </p:cNvPr>
            <p:cNvSpPr txBox="1"/>
            <p:nvPr/>
          </p:nvSpPr>
          <p:spPr>
            <a:xfrm>
              <a:off x="3713566" y="2571750"/>
              <a:ext cx="1112482" cy="448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IgG1_YA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26DDEBA-B8AE-8A0E-89B1-A58116DD2D1F}"/>
                </a:ext>
              </a:extLst>
            </p:cNvPr>
            <p:cNvSpPr txBox="1"/>
            <p:nvPr/>
          </p:nvSpPr>
          <p:spPr>
            <a:xfrm>
              <a:off x="4311830" y="3438612"/>
              <a:ext cx="1035152" cy="448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IgG1_YI</a:t>
              </a:r>
            </a:p>
          </p:txBody>
        </p:sp>
      </p:grpSp>
      <p:sp>
        <p:nvSpPr>
          <p:cNvPr id="2" name="Стрелка вниз 4">
            <a:extLst>
              <a:ext uri="{FF2B5EF4-FFF2-40B4-BE49-F238E27FC236}">
                <a16:creationId xmlns:a16="http://schemas.microsoft.com/office/drawing/2014/main" id="{65370EE0-04A5-BD21-678B-728D5DEBB188}"/>
              </a:ext>
            </a:extLst>
          </p:cNvPr>
          <p:cNvSpPr/>
          <p:nvPr/>
        </p:nvSpPr>
        <p:spPr>
          <a:xfrm rot="16200000">
            <a:off x="4917655" y="685381"/>
            <a:ext cx="192964" cy="557217"/>
          </a:xfrm>
          <a:prstGeom prst="downArrow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6" name="Стрелка вниз 4">
            <a:extLst>
              <a:ext uri="{FF2B5EF4-FFF2-40B4-BE49-F238E27FC236}">
                <a16:creationId xmlns:a16="http://schemas.microsoft.com/office/drawing/2014/main" id="{7D27FEE7-8ED9-EFCC-C3B6-653558A84E4F}"/>
              </a:ext>
            </a:extLst>
          </p:cNvPr>
          <p:cNvSpPr/>
          <p:nvPr/>
        </p:nvSpPr>
        <p:spPr>
          <a:xfrm>
            <a:off x="6806875" y="862103"/>
            <a:ext cx="192964" cy="557217"/>
          </a:xfrm>
          <a:prstGeom prst="downArrow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7" name="Стрелка вниз 4">
            <a:extLst>
              <a:ext uri="{FF2B5EF4-FFF2-40B4-BE49-F238E27FC236}">
                <a16:creationId xmlns:a16="http://schemas.microsoft.com/office/drawing/2014/main" id="{A768BC22-2C0B-200D-71CB-26385FBD6142}"/>
              </a:ext>
            </a:extLst>
          </p:cNvPr>
          <p:cNvSpPr/>
          <p:nvPr/>
        </p:nvSpPr>
        <p:spPr>
          <a:xfrm>
            <a:off x="6367648" y="1794903"/>
            <a:ext cx="192964" cy="557217"/>
          </a:xfrm>
          <a:prstGeom prst="downArrow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</p:spTree>
    <p:extLst>
      <p:ext uri="{BB962C8B-B14F-4D97-AF65-F5344CB8AC3E}">
        <p14:creationId xmlns:p14="http://schemas.microsoft.com/office/powerpoint/2010/main" val="427346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401">
        <p:fade/>
      </p:transition>
    </mc:Choice>
    <mc:Fallback xmlns="">
      <p:transition spd="med" advTm="3040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3A54B1-2B5B-1F9D-C1D0-DFEFF016A4DC}"/>
              </a:ext>
            </a:extLst>
          </p:cNvPr>
          <p:cNvSpPr txBox="1"/>
          <p:nvPr/>
        </p:nvSpPr>
        <p:spPr>
          <a:xfrm>
            <a:off x="311499" y="150725"/>
            <a:ext cx="1850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Fc-linked </a:t>
            </a:r>
            <a:r>
              <a:rPr lang="en-US" dirty="0" err="1"/>
              <a:t>glycome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3F5372-58A1-E8EF-526D-2346EF24EDE4}"/>
              </a:ext>
            </a:extLst>
          </p:cNvPr>
          <p:cNvSpPr txBox="1"/>
          <p:nvPr/>
        </p:nvSpPr>
        <p:spPr>
          <a:xfrm>
            <a:off x="311499" y="627967"/>
            <a:ext cx="2588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18</a:t>
            </a:r>
            <a:r>
              <a:rPr lang="en-US" dirty="0"/>
              <a:t> compositions</a:t>
            </a:r>
            <a:r>
              <a:rPr lang="ru-RU" dirty="0"/>
              <a:t> </a:t>
            </a:r>
            <a:r>
              <a:rPr lang="en-US" dirty="0"/>
              <a:t>in EXP02</a:t>
            </a:r>
          </a:p>
          <a:p>
            <a:r>
              <a:rPr lang="en-US" dirty="0"/>
              <a:t>19 compositions in EXP03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AF167E-9844-F40D-E53E-A92E14873EBC}"/>
              </a:ext>
            </a:extLst>
          </p:cNvPr>
          <p:cNvSpPr txBox="1"/>
          <p:nvPr/>
        </p:nvSpPr>
        <p:spPr>
          <a:xfrm>
            <a:off x="477387" y="2244984"/>
            <a:ext cx="1807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Hybrid structures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D46215-4921-4D1A-8D65-51818036A8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729"/>
          <a:stretch/>
        </p:blipFill>
        <p:spPr>
          <a:xfrm>
            <a:off x="5535541" y="77163"/>
            <a:ext cx="3567767" cy="17628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241484-E37F-F8B8-78A4-EAB281FBB872}"/>
              </a:ext>
            </a:extLst>
          </p:cNvPr>
          <p:cNvSpPr txBox="1"/>
          <p:nvPr/>
        </p:nvSpPr>
        <p:spPr>
          <a:xfrm>
            <a:off x="3681017" y="183632"/>
            <a:ext cx="1982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Free Fc-linked glycans in Free Style cells were analyzed LC-MS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479205-64F6-E546-EC8F-C2891975497C}"/>
              </a:ext>
            </a:extLst>
          </p:cNvPr>
          <p:cNvSpPr txBox="1"/>
          <p:nvPr/>
        </p:nvSpPr>
        <p:spPr>
          <a:xfrm>
            <a:off x="6739890" y="2387084"/>
            <a:ext cx="1746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Weird structures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EF6E4FE-E81B-CA0F-FB38-9CCC07B96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385634" y="3266695"/>
            <a:ext cx="1676193" cy="672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5CBD7E-DA7E-41BE-8EDC-5720F8EF7109}"/>
              </a:ext>
            </a:extLst>
          </p:cNvPr>
          <p:cNvSpPr txBox="1"/>
          <p:nvPr/>
        </p:nvSpPr>
        <p:spPr>
          <a:xfrm>
            <a:off x="352104" y="3472911"/>
            <a:ext cx="2354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Antennary </a:t>
            </a:r>
            <a:r>
              <a:rPr lang="en-US" dirty="0" err="1"/>
              <a:t>fucosylation</a:t>
            </a:r>
            <a:endParaRPr lang="en-US" dirty="0"/>
          </a:p>
        </p:txBody>
      </p:sp>
      <p:pic>
        <p:nvPicPr>
          <p:cNvPr id="3077" name="Picture 5">
            <a:extLst>
              <a:ext uri="{FF2B5EF4-FFF2-40B4-BE49-F238E27FC236}">
                <a16:creationId xmlns:a16="http://schemas.microsoft.com/office/drawing/2014/main" id="{26E41834-D915-5B75-1D8E-67D025F8F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39461" y="3581502"/>
            <a:ext cx="1358509" cy="64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000000-0008-0000-0200-000005000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469146" y="3336721"/>
            <a:ext cx="1536494" cy="641712"/>
          </a:xfrm>
          <a:prstGeom prst="rect">
            <a:avLst/>
          </a:prstGeom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8A34F490-1B0C-5E65-84C5-77378CB72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874145" y="2168056"/>
            <a:ext cx="1409700" cy="52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>
            <a:extLst>
              <a:ext uri="{FF2B5EF4-FFF2-40B4-BE49-F238E27FC236}">
                <a16:creationId xmlns:a16="http://schemas.microsoft.com/office/drawing/2014/main" id="{8619FA74-4118-997A-C188-72F279F63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382209" y="3704362"/>
            <a:ext cx="1358510" cy="434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95001ADB-873C-6A09-A1AE-077DA965B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961865" y="3750833"/>
            <a:ext cx="1478061" cy="434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9">
            <a:extLst>
              <a:ext uri="{FF2B5EF4-FFF2-40B4-BE49-F238E27FC236}">
                <a16:creationId xmlns:a16="http://schemas.microsoft.com/office/drawing/2014/main" id="{2D4409F9-8E05-0860-CDB9-205FA01FA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77409" y="2116383"/>
            <a:ext cx="1409700" cy="626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8E0C2097-51AD-786B-3DF6-3475230C6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555599" y="2077907"/>
            <a:ext cx="1311392" cy="704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616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8572">
        <p:fade/>
      </p:transition>
    </mc:Choice>
    <mc:Fallback xmlns="">
      <p:transition spd="med" advTm="68572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C45D91D-DB2C-406A-1FC2-3594F07A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Derived traits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E953B4A-A81B-6C9E-D85F-9CBE78F31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55" y="1200151"/>
            <a:ext cx="5114108" cy="3394472"/>
          </a:xfrm>
        </p:spPr>
        <p:txBody>
          <a:bodyPr/>
          <a:lstStyle/>
          <a:p>
            <a:pPr marL="0" indent="0">
              <a:buNone/>
            </a:pPr>
            <a:endParaRPr lang="en-GB" sz="1600" b="0" dirty="0"/>
          </a:p>
          <a:p>
            <a:pPr marL="0" indent="0">
              <a:buNone/>
            </a:pPr>
            <a:r>
              <a:rPr lang="en-GB" sz="1600" b="0" dirty="0"/>
              <a:t>A1 = H3N3F1</a:t>
            </a:r>
          </a:p>
          <a:p>
            <a:pPr marL="0" indent="0">
              <a:buNone/>
            </a:pPr>
            <a:r>
              <a:rPr lang="en-GB" sz="1600" b="0" dirty="0"/>
              <a:t>G0 = H3N3F1 + H3N4F1 + H3N5F1</a:t>
            </a:r>
          </a:p>
          <a:p>
            <a:pPr marL="0" indent="0">
              <a:buNone/>
            </a:pPr>
            <a:r>
              <a:rPr lang="en-GB" sz="1600" b="0" dirty="0"/>
              <a:t>G =H4N4F1+H4N5F1+H5N4F1+H5N4F2+H5N5F1+H6N3F1</a:t>
            </a:r>
          </a:p>
          <a:p>
            <a:pPr marL="0" indent="0">
              <a:buNone/>
            </a:pPr>
            <a:r>
              <a:rPr lang="en-GB" sz="1600" b="0" dirty="0"/>
              <a:t>S = H4N4F1S1 + H5N4F1S1 + H5N4F1S2 + H6N3F1S1</a:t>
            </a:r>
          </a:p>
          <a:p>
            <a:pPr marL="0" indent="0">
              <a:buNone/>
            </a:pPr>
            <a:r>
              <a:rPr lang="en-GB" sz="1600" b="0" dirty="0"/>
              <a:t>M = </a:t>
            </a:r>
            <a:r>
              <a:rPr lang="en-GB" sz="1600" b="0" i="1" dirty="0"/>
              <a:t>H4N2 (EXP03) </a:t>
            </a:r>
            <a:r>
              <a:rPr lang="en-GB" sz="1600" b="0" dirty="0"/>
              <a:t>+ H5N2+H6N2</a:t>
            </a:r>
          </a:p>
          <a:p>
            <a:pPr marL="0" indent="0">
              <a:buNone/>
            </a:pPr>
            <a:r>
              <a:rPr lang="en-GB" sz="1600" b="0" dirty="0"/>
              <a:t>B = H3N5F1+H4N5F1+H5N5F1</a:t>
            </a:r>
          </a:p>
          <a:p>
            <a:pPr marL="0" indent="0">
              <a:buNone/>
            </a:pPr>
            <a:r>
              <a:rPr lang="en-GB" sz="1600" b="0" dirty="0" err="1"/>
              <a:t>AntennaryF</a:t>
            </a:r>
            <a:r>
              <a:rPr lang="en-GB" sz="1600" b="0" dirty="0"/>
              <a:t> = H5N4F2</a:t>
            </a:r>
          </a:p>
          <a:p>
            <a:pPr marL="0" indent="0">
              <a:buNone/>
            </a:pPr>
            <a:r>
              <a:rPr lang="en-GB" sz="1600" b="0" dirty="0"/>
              <a:t>H = H5N3F1 + H6N3F1 + H6N3F1S1</a:t>
            </a:r>
          </a:p>
        </p:txBody>
      </p:sp>
    </p:spTree>
    <p:extLst>
      <p:ext uri="{BB962C8B-B14F-4D97-AF65-F5344CB8AC3E}">
        <p14:creationId xmlns:p14="http://schemas.microsoft.com/office/powerpoint/2010/main" val="110576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>
            <a:extLst>
              <a:ext uri="{FF2B5EF4-FFF2-40B4-BE49-F238E27FC236}">
                <a16:creationId xmlns:a16="http://schemas.microsoft.com/office/drawing/2014/main" id="{50D9506E-6B57-063A-D29F-791A102EF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67" y="540632"/>
            <a:ext cx="4429133" cy="3895997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7339FA81-EFF2-FFEA-141A-090E8DC25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2" y="540632"/>
            <a:ext cx="4541318" cy="3815830"/>
          </a:xfrm>
          <a:prstGeom prst="rect">
            <a:avLst/>
          </a:prstGeom>
        </p:spPr>
      </p:pic>
      <p:sp>
        <p:nvSpPr>
          <p:cNvPr id="9" name="TekstniOkvir 8">
            <a:extLst>
              <a:ext uri="{FF2B5EF4-FFF2-40B4-BE49-F238E27FC236}">
                <a16:creationId xmlns:a16="http://schemas.microsoft.com/office/drawing/2014/main" id="{F7D88B7D-232B-9283-125B-617FD8ED676C}"/>
              </a:ext>
            </a:extLst>
          </p:cNvPr>
          <p:cNvSpPr txBox="1"/>
          <p:nvPr/>
        </p:nvSpPr>
        <p:spPr>
          <a:xfrm>
            <a:off x="672737" y="241663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EXP02</a:t>
            </a:r>
          </a:p>
        </p:txBody>
      </p:sp>
      <p:sp>
        <p:nvSpPr>
          <p:cNvPr id="10" name="TekstniOkvir 9">
            <a:extLst>
              <a:ext uri="{FF2B5EF4-FFF2-40B4-BE49-F238E27FC236}">
                <a16:creationId xmlns:a16="http://schemas.microsoft.com/office/drawing/2014/main" id="{4DB88003-05FD-3056-8ACC-FAD5899F7C89}"/>
              </a:ext>
            </a:extLst>
          </p:cNvPr>
          <p:cNvSpPr txBox="1"/>
          <p:nvPr/>
        </p:nvSpPr>
        <p:spPr>
          <a:xfrm>
            <a:off x="4829173" y="171300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EXP03</a:t>
            </a:r>
          </a:p>
        </p:txBody>
      </p:sp>
    </p:spTree>
    <p:extLst>
      <p:ext uri="{BB962C8B-B14F-4D97-AF65-F5344CB8AC3E}">
        <p14:creationId xmlns:p14="http://schemas.microsoft.com/office/powerpoint/2010/main" val="501997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>
            <a:extLst>
              <a:ext uri="{FF2B5EF4-FFF2-40B4-BE49-F238E27FC236}">
                <a16:creationId xmlns:a16="http://schemas.microsoft.com/office/drawing/2014/main" id="{44256C1D-A8A9-2B01-3BE7-A563CF8D2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24" y="492051"/>
            <a:ext cx="3458098" cy="3988482"/>
          </a:xfrm>
          <a:prstGeom prst="rect">
            <a:avLst/>
          </a:prstGeom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A695F5D0-672C-32B8-90B3-BBBD9F699BB5}"/>
              </a:ext>
            </a:extLst>
          </p:cNvPr>
          <p:cNvSpPr txBox="1"/>
          <p:nvPr/>
        </p:nvSpPr>
        <p:spPr>
          <a:xfrm>
            <a:off x="709690" y="122719"/>
            <a:ext cx="1278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Effect of HC</a:t>
            </a:r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B9FE5E2D-05F2-EC4E-FEC5-21FBE3BA8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105" y="486494"/>
            <a:ext cx="3458097" cy="3994039"/>
          </a:xfrm>
          <a:prstGeom prst="rect">
            <a:avLst/>
          </a:prstGeom>
        </p:spPr>
      </p:pic>
      <p:sp>
        <p:nvSpPr>
          <p:cNvPr id="9" name="TekstniOkvir 8">
            <a:extLst>
              <a:ext uri="{FF2B5EF4-FFF2-40B4-BE49-F238E27FC236}">
                <a16:creationId xmlns:a16="http://schemas.microsoft.com/office/drawing/2014/main" id="{4D5B4148-9E1E-A630-D9A5-506BA974EA55}"/>
              </a:ext>
            </a:extLst>
          </p:cNvPr>
          <p:cNvSpPr txBox="1"/>
          <p:nvPr/>
        </p:nvSpPr>
        <p:spPr>
          <a:xfrm>
            <a:off x="4999290" y="99807"/>
            <a:ext cx="1229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Effect of LC</a:t>
            </a:r>
          </a:p>
        </p:txBody>
      </p:sp>
    </p:spTree>
    <p:extLst>
      <p:ext uri="{BB962C8B-B14F-4D97-AF65-F5344CB8AC3E}">
        <p14:creationId xmlns:p14="http://schemas.microsoft.com/office/powerpoint/2010/main" val="167767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9033BC11-838B-BAB5-94A7-1CCCF0E3F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821" y="189593"/>
            <a:ext cx="7143750" cy="450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09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74B710-7103-4A39-C4C9-DD5D9C603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Compare traits in different IgG variants</a:t>
            </a:r>
            <a:br>
              <a:rPr lang="en-US" sz="2400" dirty="0"/>
            </a:br>
            <a:r>
              <a:rPr lang="en-US" sz="2400" dirty="0"/>
              <a:t>(by line)</a:t>
            </a: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05BCA478-C0E9-AB68-FC88-E6D8DD8AE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3229"/>
            <a:ext cx="4491709" cy="2619085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CC7C6A0A-D4FE-70FA-10B8-A7FBA5107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10963"/>
            <a:ext cx="4193059" cy="264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55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AE557-5EBE-8104-D12D-0D1CF5C8C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2E1452-7FBA-5ABE-B287-B4A6EF9E4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Compare structures in different IgG variants</a:t>
            </a:r>
            <a:br>
              <a:rPr lang="en-US" sz="2400" dirty="0"/>
            </a:br>
            <a:r>
              <a:rPr lang="en-US" sz="2400" dirty="0"/>
              <a:t>(by line)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6C54B5-4C2B-E118-6019-962F053E6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7644"/>
            <a:ext cx="3772178" cy="23753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4F5F28-5E16-4BD6-90D7-315B7D8EA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87644"/>
            <a:ext cx="3841487" cy="24190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2A74930-BF91-F9A6-678E-49A611669457}"/>
              </a:ext>
            </a:extLst>
          </p:cNvPr>
          <p:cNvSpPr txBox="1"/>
          <p:nvPr/>
        </p:nvSpPr>
        <p:spPr>
          <a:xfrm>
            <a:off x="457200" y="4009292"/>
            <a:ext cx="481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 patterns for H3N3F1, H3N5F1, H4N3F1. </a:t>
            </a:r>
          </a:p>
        </p:txBody>
      </p:sp>
    </p:spTree>
    <p:extLst>
      <p:ext uri="{BB962C8B-B14F-4D97-AF65-F5344CB8AC3E}">
        <p14:creationId xmlns:p14="http://schemas.microsoft.com/office/powerpoint/2010/main" val="1505460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9D28D-079F-C1D7-0F08-9A871FE93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5146B-9410-61FD-C4E3-AEA1EEF7E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hr-HR" sz="1400" b="0" dirty="0" err="1"/>
              <a:t>IgG</a:t>
            </a:r>
            <a:r>
              <a:rPr lang="hr-HR" sz="1400" b="0" dirty="0"/>
              <a:t> </a:t>
            </a:r>
            <a:r>
              <a:rPr lang="hr-HR" sz="1400" b="0" dirty="0" err="1"/>
              <a:t>Fc</a:t>
            </a:r>
            <a:r>
              <a:rPr lang="hr-HR" sz="1400" b="0" dirty="0"/>
              <a:t> N</a:t>
            </a:r>
            <a:r>
              <a:rPr lang="en-GB" sz="1400" b="0" dirty="0"/>
              <a:t>-</a:t>
            </a:r>
            <a:r>
              <a:rPr lang="en-GB" sz="1400" b="0" dirty="0" err="1"/>
              <a:t>glycome</a:t>
            </a:r>
            <a:r>
              <a:rPr lang="en-GB" sz="1400" b="0" dirty="0"/>
              <a:t> composition is similar within </a:t>
            </a:r>
            <a:r>
              <a:rPr lang="en-GB" sz="1400" b="0" dirty="0" err="1"/>
              <a:t>IgGs</a:t>
            </a:r>
            <a:r>
              <a:rPr lang="en-GB" sz="1400" b="0" dirty="0"/>
              <a:t> with the same heavy chain but different light chains (WT and NO)</a:t>
            </a:r>
            <a:r>
              <a:rPr lang="en-US" sz="1400" b="0" dirty="0"/>
              <a:t> have an impact only on </a:t>
            </a:r>
            <a:r>
              <a:rPr lang="en-US" sz="1400" b="0" dirty="0" err="1"/>
              <a:t>agalactosylation</a:t>
            </a:r>
            <a:r>
              <a:rPr lang="en-US" sz="1400" b="0" dirty="0"/>
              <a:t>,  </a:t>
            </a:r>
            <a:r>
              <a:rPr lang="en-US" sz="1400" b="0" dirty="0" err="1"/>
              <a:t>fucosylation</a:t>
            </a:r>
            <a:r>
              <a:rPr lang="en-US" sz="1400" b="0" dirty="0"/>
              <a:t> and high-mannose content</a:t>
            </a:r>
            <a:endParaRPr lang="ru-RU" sz="1400" b="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400" b="0" dirty="0"/>
              <a:t>Bisection, antennary </a:t>
            </a:r>
            <a:r>
              <a:rPr lang="en-US" sz="1400" b="0" dirty="0" err="1"/>
              <a:t>fucosylation</a:t>
            </a:r>
            <a:r>
              <a:rPr lang="en-US" sz="1400" b="0" dirty="0"/>
              <a:t>, </a:t>
            </a:r>
            <a:r>
              <a:rPr lang="en-US" sz="1400" b="0" dirty="0" err="1"/>
              <a:t>galactosylation</a:t>
            </a:r>
            <a:r>
              <a:rPr lang="en-US" sz="1400" b="0" dirty="0"/>
              <a:t> and sialylation are higher in IgG1_Y and IgG1_YF as compared to IgG1_YI and IgG1_YA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400" b="0" dirty="0"/>
              <a:t>High mannose and hybrid structures are more abundant on IgG1_YA and IgG1_YI as compared to IgG1_YF and IgG1_Y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400" b="0" dirty="0"/>
              <a:t>Core </a:t>
            </a:r>
            <a:r>
              <a:rPr lang="en-US" sz="1400" b="0" dirty="0" err="1"/>
              <a:t>fucosylation</a:t>
            </a:r>
            <a:r>
              <a:rPr lang="en-US" sz="1400" b="0" dirty="0"/>
              <a:t> is less abundant in IgG1_YI than on other heavy chain variants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400" b="0" dirty="0"/>
              <a:t>Levels of </a:t>
            </a:r>
            <a:r>
              <a:rPr lang="en-US" sz="1400" b="0" dirty="0" err="1"/>
              <a:t>agalactosylated</a:t>
            </a:r>
            <a:r>
              <a:rPr lang="en-US" sz="1400" b="0" dirty="0"/>
              <a:t> glycans and monoantennary structures were lower on IgG1_Y than on other heavy chain variants</a:t>
            </a:r>
            <a:endParaRPr lang="en-GB" sz="1400" b="0" dirty="0"/>
          </a:p>
          <a:p>
            <a:pPr marL="0" indent="0">
              <a:buNone/>
            </a:pPr>
            <a:endParaRPr lang="en-GB" sz="1400" b="0" dirty="0"/>
          </a:p>
        </p:txBody>
      </p:sp>
    </p:spTree>
    <p:extLst>
      <p:ext uri="{BB962C8B-B14F-4D97-AF65-F5344CB8AC3E}">
        <p14:creationId xmlns:p14="http://schemas.microsoft.com/office/powerpoint/2010/main" val="3254888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BED80-D999-8217-04F9-C92BA459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ED85-FF54-52FF-13D4-81AB5B9D4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dirty="0"/>
              <a:t>Glycan profiles are broadly consistent between the two experiments. For all sample types, the most abundant species are </a:t>
            </a:r>
            <a:r>
              <a:rPr lang="en-US" sz="1800" b="0" dirty="0" err="1"/>
              <a:t>asialylated</a:t>
            </a:r>
            <a:r>
              <a:rPr lang="en-US" sz="1800" b="0" dirty="0"/>
              <a:t> complex glycans. Most abundant species for all sample types is H3N4F1 (FA2G0).</a:t>
            </a:r>
            <a:endParaRPr lang="ru-RU" sz="1800" b="0" dirty="0"/>
          </a:p>
          <a:p>
            <a:r>
              <a:rPr lang="en-US" sz="1800" b="0" dirty="0"/>
              <a:t>Differences: in all sample types there is an increase in truncated H3N3F1 structure in EXP03. At the same time, there is a drop in the most abundant </a:t>
            </a:r>
            <a:r>
              <a:rPr lang="en-US" sz="1800" b="0" dirty="0" err="1"/>
              <a:t>sialylated</a:t>
            </a:r>
            <a:r>
              <a:rPr lang="en-US" sz="1800" b="0" dirty="0"/>
              <a:t> structures H4N4F1S1 (FA2G1S1) and H5N4F1S1 (FA2G2S1). Levels of bisected structures H3N5F1 and H4N5F1 also dropped.</a:t>
            </a:r>
          </a:p>
          <a:p>
            <a:r>
              <a:rPr lang="en-US" sz="1800" b="0" dirty="0"/>
              <a:t>Significance of some effects consecutively disappeared in the statistical tests. </a:t>
            </a:r>
          </a:p>
        </p:txBody>
      </p:sp>
    </p:spTree>
    <p:extLst>
      <p:ext uri="{BB962C8B-B14F-4D97-AF65-F5344CB8AC3E}">
        <p14:creationId xmlns:p14="http://schemas.microsoft.com/office/powerpoint/2010/main" val="2243927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eme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3" id="{6D689630-1DBF-4976-B833-3AB070A3184C}" vid="{A4A85E95-76E0-4E72-93B1-F76EC490055C}"/>
    </a:ext>
  </a:extLst>
</a:theme>
</file>

<file path=ppt/theme/theme2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2" id="{2E8E3162-9992-4B13-8A9E-E82F1F597CC4}" vid="{F1E82AEE-2F1D-4122-8E05-8FD7CA2859D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Theme3</Template>
  <TotalTime>13155</TotalTime>
  <Words>590</Words>
  <Application>Microsoft Office PowerPoint</Application>
  <PresentationFormat>Prikaz na zaslonu (16:9)</PresentationFormat>
  <Paragraphs>94</Paragraphs>
  <Slides>17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4</vt:i4>
      </vt:variant>
      <vt:variant>
        <vt:lpstr>Tema</vt:lpstr>
      </vt:variant>
      <vt:variant>
        <vt:i4>2</vt:i4>
      </vt:variant>
      <vt:variant>
        <vt:lpstr>Naslovi slajdova</vt:lpstr>
      </vt:variant>
      <vt:variant>
        <vt:i4>17</vt:i4>
      </vt:variant>
    </vt:vector>
  </HeadingPairs>
  <TitlesOfParts>
    <vt:vector size="23" baseType="lpstr">
      <vt:lpstr>Gotham Medium</vt:lpstr>
      <vt:lpstr>Arial</vt:lpstr>
      <vt:lpstr>Calibri</vt:lpstr>
      <vt:lpstr>Calibri Light</vt:lpstr>
      <vt:lpstr>Theme3</vt:lpstr>
      <vt:lpstr>Theme2</vt:lpstr>
      <vt:lpstr>Influence of IgG amino acid sequence on attached N-glycans</vt:lpstr>
      <vt:lpstr>PowerPoint prezentacija</vt:lpstr>
      <vt:lpstr>PowerPoint prezentacija</vt:lpstr>
      <vt:lpstr>PowerPoint prezentacija</vt:lpstr>
      <vt:lpstr>Experiment setup</vt:lpstr>
      <vt:lpstr>IgG production in cell culture</vt:lpstr>
      <vt:lpstr>PowerPoint prezentacija</vt:lpstr>
      <vt:lpstr>PowerPoint prezentacija</vt:lpstr>
      <vt:lpstr>PowerPoint prezentacija</vt:lpstr>
      <vt:lpstr>Derived traits</vt:lpstr>
      <vt:lpstr>PowerPoint prezentacija</vt:lpstr>
      <vt:lpstr>PowerPoint prezentacija</vt:lpstr>
      <vt:lpstr>PowerPoint prezentacija</vt:lpstr>
      <vt:lpstr>Compare traits in different IgG variants (by line)</vt:lpstr>
      <vt:lpstr>Compare structures in different IgG variants (by line)</vt:lpstr>
      <vt:lpstr>Conclusions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Maja Pučić Baković</dc:creator>
  <cp:lastModifiedBy>genos</cp:lastModifiedBy>
  <cp:revision>381</cp:revision>
  <cp:lastPrinted>2015-08-26T09:12:37Z</cp:lastPrinted>
  <dcterms:created xsi:type="dcterms:W3CDTF">2015-08-17T13:17:19Z</dcterms:created>
  <dcterms:modified xsi:type="dcterms:W3CDTF">2026-06-11T14:37:14Z</dcterms:modified>
</cp:coreProperties>
</file>